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fdcfd66cf84196" /><Relationship Type="http://schemas.openxmlformats.org/officeDocument/2006/relationships/extended-properties" Target="/docProps/app.xml" Id="Rc80d315edec24f39" /><Relationship Type="http://schemas.openxmlformats.org/officeDocument/2006/relationships/officeDocument" Target="/ppt/presentation.xml" Id="R08cfdc6364614b51" /></Relationships>
</file>

<file path=ppt/presentation.xml><?xml version="1.0" encoding="utf-8"?>
<p:presentation xmlns:p="http://schemas.openxmlformats.org/presentationml/2006/main">
  <p:sldMasterIdLst>
    <p:sldMasterId xmlns:r="http://schemas.openxmlformats.org/officeDocument/2006/relationships" id="2147483648" r:id="Rfe0afb5e1b7146d9"/>
  </p:sldMasterIdLst>
  <p:notesMasterIdLst>
    <p:notesMasterId xmlns:r="http://schemas.openxmlformats.org/officeDocument/2006/relationships" r:id="R3bc699d8186044f9"/>
  </p:notesMasterIdLst>
  <p:sldIdLst>
    <p:sldId xmlns:r="http://schemas.openxmlformats.org/officeDocument/2006/relationships" id="256" r:id="R3b4ed4392c774874"/>
    <p:sldId xmlns:r="http://schemas.openxmlformats.org/officeDocument/2006/relationships" id="257" r:id="R83036f0980f446ea"/>
    <p:sldId xmlns:r="http://schemas.openxmlformats.org/officeDocument/2006/relationships" id="258" r:id="Rd8fb9bd4fe204e89"/>
    <p:sldId xmlns:r="http://schemas.openxmlformats.org/officeDocument/2006/relationships" id="259" r:id="R67919629076249d6"/>
    <p:sldId xmlns:r="http://schemas.openxmlformats.org/officeDocument/2006/relationships" id="260" r:id="R74f5396d962e4704"/>
    <p:sldId xmlns:r="http://schemas.openxmlformats.org/officeDocument/2006/relationships" id="261" r:id="R1f2f8f30abf64dea"/>
    <p:sldId xmlns:r="http://schemas.openxmlformats.org/officeDocument/2006/relationships" id="262" r:id="Re47389cd9b184f4f"/>
    <p:sldId xmlns:r="http://schemas.openxmlformats.org/officeDocument/2006/relationships" id="263" r:id="R3a781244f02548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03cb83b385440c" /><Relationship Type="http://schemas.openxmlformats.org/officeDocument/2006/relationships/slideMaster" Target="/ppt/slideMasters/slideMaster1.xml" Id="Rfe0afb5e1b7146d9" /><Relationship Type="http://schemas.openxmlformats.org/officeDocument/2006/relationships/notesMaster" Target="/ppt/notesMasters/notesMaster1.xml" Id="R3bc699d8186044f9" /><Relationship Type="http://schemas.openxmlformats.org/officeDocument/2006/relationships/presProps" Target="/ppt/presProps.xml" Id="R44d89937a398400b" /><Relationship Type="http://schemas.openxmlformats.org/officeDocument/2006/relationships/tableStyles" Target="/ppt/tableStyles.xml" Id="R36d128dac9004c9f" /><Relationship Type="http://schemas.openxmlformats.org/officeDocument/2006/relationships/slide" Target="/ppt/slides/slide1.xml" Id="R3b4ed4392c774874" /><Relationship Type="http://schemas.openxmlformats.org/officeDocument/2006/relationships/slide" Target="/ppt/slides/slide2.xml" Id="R83036f0980f446ea" /><Relationship Type="http://schemas.openxmlformats.org/officeDocument/2006/relationships/slide" Target="/ppt/slides/slide3.xml" Id="Rd8fb9bd4fe204e89" /><Relationship Type="http://schemas.openxmlformats.org/officeDocument/2006/relationships/slide" Target="/ppt/slides/slide4.xml" Id="R67919629076249d6" /><Relationship Type="http://schemas.openxmlformats.org/officeDocument/2006/relationships/slide" Target="/ppt/slides/slide5.xml" Id="R74f5396d962e4704" /><Relationship Type="http://schemas.openxmlformats.org/officeDocument/2006/relationships/slide" Target="/ppt/slides/slide6.xml" Id="R1f2f8f30abf64dea" /><Relationship Type="http://schemas.openxmlformats.org/officeDocument/2006/relationships/slide" Target="/ppt/slides/slide7.xml" Id="Re47389cd9b184f4f" /><Relationship Type="http://schemas.openxmlformats.org/officeDocument/2006/relationships/slide" Target="/ppt/slides/slide8.xml" Id="R3a781244f02548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12c78ac1c643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06e51cff2c4cef" /><Relationship Type="http://schemas.openxmlformats.org/officeDocument/2006/relationships/notesMaster" Target="/ppt/notesMasters/notesMaster1.xml" Id="R153213fe3f2d4c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a68c1d06834c61" /><Relationship Type="http://schemas.openxmlformats.org/officeDocument/2006/relationships/notesMaster" Target="/ppt/notesMasters/notesMaster1.xml" Id="Rc7f3ac46dbeb49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b0b9dc1c63498f" /><Relationship Type="http://schemas.openxmlformats.org/officeDocument/2006/relationships/notesMaster" Target="/ppt/notesMasters/notesMaster1.xml" Id="R07fbd4ce0ad241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d382a0333f47a2" /><Relationship Type="http://schemas.openxmlformats.org/officeDocument/2006/relationships/notesMaster" Target="/ppt/notesMasters/notesMaster1.xml" Id="R05cb2c41f81d45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f6980da28a4674" /><Relationship Type="http://schemas.openxmlformats.org/officeDocument/2006/relationships/notesMaster" Target="/ppt/notesMasters/notesMaster1.xml" Id="R8d83746d066143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80381d379a4034" /><Relationship Type="http://schemas.openxmlformats.org/officeDocument/2006/relationships/notesMaster" Target="/ppt/notesMasters/notesMaster1.xml" Id="R8d6c0a35203b49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962f155c4c4875" /><Relationship Type="http://schemas.openxmlformats.org/officeDocument/2006/relationships/notesMaster" Target="/ppt/notesMasters/notesMaster1.xml" Id="R3d6b118ed4b940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e830adff254a5e" /><Relationship Type="http://schemas.openxmlformats.org/officeDocument/2006/relationships/notesMaster" Target="/ppt/notesMasters/notesMaster1.xml" Id="R9c23fd2cf00044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פתיחה מוצעת: התחילי מהחוויה האישית שלך. ספרי במשפט אחד איך הגעת לקינסיולוגיה, ואז הזמיני את הקהל למסע קצר בין ההיסטוריה, הגוף וחמשת האלמנטים.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הדגישי את ההבדל בין בדיקת כוח שריר רפואית לבין השימוש בתגובת השריר בעולם הקינסיולוגיה. אפשר לומר: השריר הוא חלק מתהליך ההקשבה, לא תשובה קסומה ולא תחליף לבדיקה רפואית.</a:t>
            </a:r>
          </a:p>
          <a:p xmlns:a="http://schemas.openxmlformats.org/drawingml/2006/main">
            <a:r>
              <a:t/>
            </a:r>
          </a:p>
          <a:p xmlns:a="http://schemas.openxmlformats.org/drawingml/2006/main">
            <a:pPr rtl="1"/>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טיפ הגשה: אל תקראי את כל הציר. עצרי בכל תחנה לסיפור קצר. בשלב של שנות ה־80 אפשר לחבר ישירות לעבודה שלך עם סטרס, רגשות ואמונות.</a:t>
            </a:r>
          </a:p>
          <a:p xmlns:a="http://schemas.openxmlformats.org/drawingml/2006/main">
            <a:r>
              <a:t/>
            </a:r>
          </a:p>
          <a:p xmlns:a="http://schemas.openxmlformats.org/drawingml/2006/main">
            <a:pPr rtl="1"/>
            <a:r>
              <a:t>מקורות:</a:t>
            </a:r>
          </a:p>
          <a:p xmlns:a="http://schemas.openxmlformats.org/drawingml/2006/main">
            <a:r>
              <a:t>https://pmc.ncbi.nlm.nih.gov/articles/PMC1847521/</a:t>
            </a:r>
          </a:p>
          <a:p xmlns:a="http://schemas.openxmlformats.org/drawingml/2006/main">
            <a:r>
              <a:t>https://icakusa.com/about-icak/founder/</a:t>
            </a:r>
          </a:p>
          <a:p xmlns:a="http://schemas.openxmlformats.org/drawingml/2006/main">
            <a:r>
              <a:t>https://icakusa.com/about-icak/</a:t>
            </a:r>
          </a:p>
          <a:p xmlns:a="http://schemas.openxmlformats.org/drawingml/2006/main">
            <a:r>
              <a:t>https://www.touchforhealth.us/history</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זה המקום שבו האישיות שלך מובילה. ספרי מקרה קצר בלי פרטים מזהים, או רגע שבו הבנת שההקשבה שלך למטופלים משנה את הדרך שבה את עובדת. צחוק טבעי כאן יעזור לקהל לנשום ולהתקרב.</a:t>
            </a:r>
          </a:p>
          <a:p xmlns:a="http://schemas.openxmlformats.org/drawingml/2006/main">
            <a:r>
              <a:t/>
            </a:r>
          </a:p>
          <a:p xmlns:a="http://schemas.openxmlformats.org/drawingml/2006/main">
            <a:pPr rtl="1"/>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אפשר להציג את חמשת האלמנטים כמו חמש איכויות שחיות בכולנו. הדגישי שאדם אינו רק ״אלמנט אחד״. המסורת מתבוננת בתנועה בין האיכויות ובאיזון ביניהן.</a:t>
            </a:r>
          </a:p>
          <a:p xmlns:a="http://schemas.openxmlformats.org/drawingml/2006/main">
            <a:r>
              <a:t/>
            </a:r>
          </a:p>
          <a:p xmlns:a="http://schemas.openxmlformats.org/drawingml/2006/main">
            <a:pPr rtl="1"/>
            <a:r>
              <a:t>מקורות:</a:t>
            </a:r>
          </a:p>
          <a:p xmlns:a="http://schemas.openxmlformats.org/drawingml/2006/main">
            <a:r>
              <a:t>https://files.nccih.nih.gov/s3fs-public/Traditional_Chinese_Medicine_08-03-2015.pdf</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הסבירי את המעגל דרך דימויים פשוטים: מים מצמיחים עץ, עץ מזין אש, אש משאירה אפר, אדמה נושאת מתכת, ומתכת קשורה במסורת לאיסוף מים. הציגי זאת כמטפורה מסורתית של המשכיות.</a:t>
            </a:r>
          </a:p>
          <a:p xmlns:a="http://schemas.openxmlformats.org/drawingml/2006/main">
            <a:r>
              <a:t/>
            </a:r>
          </a:p>
          <a:p xmlns:a="http://schemas.openxmlformats.org/drawingml/2006/main">
            <a:pPr rtl="1"/>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המחישי דרך החיים: מים מקררים אש, אש ממיסה מתכת, מתכת חותכת עץ, עץ חודר באדמה, ואדמה תוחמת מים. השפה היא סמלית ומסורתית. הרעיון המרכזי הוא שגבול בריא תומך באיזון.</a:t>
            </a:r>
          </a:p>
          <a:p xmlns:a="http://schemas.openxmlformats.org/drawingml/2006/main">
            <a:r>
              <a:t/>
            </a:r>
          </a:p>
          <a:p xmlns:a="http://schemas.openxmlformats.org/drawingml/2006/main">
            <a:pPr rtl="1"/>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סיימי בשקט קטן לפני השאלה. תני לקהל לענות לעצמו, ואז הזמיני שיתוף קצר. זו נקודת מעבר טובה לתרגול או להדגמה.</a:t>
            </a:r>
          </a:p>
          <a:p xmlns:a="http://schemas.openxmlformats.org/drawingml/2006/main">
            <a:r>
              <a:t/>
            </a:r>
          </a:p>
          <a:p xmlns:a="http://schemas.openxmlformats.org/drawingml/2006/main">
            <a:pPr rtl="1"/>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7ad7bac9444b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1b8336609b43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dcc4b2035843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c67e4aef2942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ec39cff0934c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348a1d137f43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C361C2-04FC-4EEB-A111-5FEC99CCC25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2207ED6-E5A2-46DB-BB37-AEB076C9617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DB236BC-7E31-4518-83CF-88034A1826B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084771-538E-4C31-ABCF-A773030EEF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329F1E-E95A-445A-AC75-318C34D7665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B3DC7C1-60B0-4498-B70B-1D891B2E11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E99289-1FF5-41F0-8BA2-7FED34DEF7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0FF290F-5894-4F45-83C9-083F8F94770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210FFB-EEE3-454D-8B33-4B8F301C46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638408-FC5D-4CA0-9941-E477C16E36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8c30bcba29470a" /><Relationship Type="http://schemas.openxmlformats.org/officeDocument/2006/relationships/slideLayout" Target="/ppt/slideLayouts/slideLayout1.xml" Id="R567f7b3fa921494b" /><Relationship Type="http://schemas.openxmlformats.org/officeDocument/2006/relationships/slideLayout" Target="/ppt/slideLayouts/slideLayout2.xml" Id="Rd6cbf695f2d94478" /><Relationship Type="http://schemas.openxmlformats.org/officeDocument/2006/relationships/slideLayout" Target="/ppt/slideLayouts/slideLayout3.xml" Id="R984e7dd638434f39" /><Relationship Type="http://schemas.openxmlformats.org/officeDocument/2006/relationships/slideLayout" Target="/ppt/slideLayouts/slideLayout4.xml" Id="R07d475a664bb4e91" /><Relationship Type="http://schemas.openxmlformats.org/officeDocument/2006/relationships/slideLayout" Target="/ppt/slideLayouts/slideLayout5.xml" Id="Rd5941f232b3c413b" /><Relationship Type="http://schemas.openxmlformats.org/officeDocument/2006/relationships/slideLayout" Target="/ppt/slideLayouts/slideLayout6.xml" Id="R62a92c5739fd48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7f7b3fa921494b"/>
    <p:sldLayoutId xmlns:r="http://schemas.openxmlformats.org/officeDocument/2006/relationships" id="2147483650" r:id="Rd6cbf695f2d94478"/>
    <p:sldLayoutId xmlns:r="http://schemas.openxmlformats.org/officeDocument/2006/relationships" id="2147483651" r:id="R984e7dd638434f39"/>
    <p:sldLayoutId xmlns:r="http://schemas.openxmlformats.org/officeDocument/2006/relationships" id="2147483652" r:id="R07d475a664bb4e91"/>
    <p:sldLayoutId xmlns:r="http://schemas.openxmlformats.org/officeDocument/2006/relationships" id="2147483653" r:id="Rd5941f232b3c413b"/>
    <p:sldLayoutId xmlns:r="http://schemas.openxmlformats.org/officeDocument/2006/relationships" id="2147483654" r:id="R62a92c5739fd48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a14478c325497f" /><Relationship Type="http://schemas.openxmlformats.org/officeDocument/2006/relationships/image" Target="/ppt/media/image.png" Id="R20d5a0f80c4642a5" /><Relationship Type="http://schemas.openxmlformats.org/officeDocument/2006/relationships/notesSlide" Target="/ppt/notesSlides/notesSlide1.xml" Id="R898296e2e39241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df233d8e3c64f46" /><Relationship Type="http://schemas.openxmlformats.org/officeDocument/2006/relationships/notesSlide" Target="/ppt/notesSlides/notesSlide2.xml" Id="Rff57e3dfc73247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4d13f774d9f45aa" /><Relationship Type="http://schemas.openxmlformats.org/officeDocument/2006/relationships/notesSlide" Target="/ppt/notesSlides/notesSlide3.xml" Id="R5bde94e453d34b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bda7c50def4081" /><Relationship Type="http://schemas.openxmlformats.org/officeDocument/2006/relationships/notesSlide" Target="/ppt/notesSlides/notesSlide4.xml" Id="Rb578310b99eb48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a3f242b19f4a6c" /><Relationship Type="http://schemas.openxmlformats.org/officeDocument/2006/relationships/notesSlide" Target="/ppt/notesSlides/notesSlide5.xml" Id="R7d7373dec1f04d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a9ad939a16467c" /><Relationship Type="http://schemas.openxmlformats.org/officeDocument/2006/relationships/notesSlide" Target="/ppt/notesSlides/notesSlide6.xml" Id="R7b1a398396db4d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04549deb8484230" /><Relationship Type="http://schemas.openxmlformats.org/officeDocument/2006/relationships/notesSlide" Target="/ppt/notesSlides/notesSlide7.xml" Id="R4724be5f5e4447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d8ee5c3f974ba8" /><Relationship Type="http://schemas.openxmlformats.org/officeDocument/2006/relationships/notesSlide" Target="/ppt/notesSlides/notesSlide8.xml" Id="R52aa3776a8214fdc" /></Relationships>
</file>

<file path=ppt/slides/slide1.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AA35BA62-3C00-4699-AF4E-69682C8050F7}"/>
              </a:ext>
            </a:extLst>
          </p:cNvPr>
          <p:cNvPicPr>
            <a:picLocks xmlns:a="http://schemas.openxmlformats.org/drawingml/2006/main" noChangeAspect="1"/>
          </p:cNvPicPr>
          <p:nvPr/>
        </p:nvPicPr>
        <p:blipFill>
          <a:blip xmlns:r="http://schemas.openxmlformats.org/officeDocument/2006/relationships" xmlns:a="http://schemas.openxmlformats.org/drawingml/2006/main" r:embed="R20d5a0f80c4642a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8027CB9-E0B7-4958-901B-C745BF1162AA}"/>
              </a:ext>
            </a:extLst>
          </p:cNvPr>
          <p:cNvSpPr>
            <a:spLocks xmlns:a="http://schemas.openxmlformats.org/drawingml/2006/main" noGrp="1"/>
          </p:cNvSpPr>
          <p:nvPr/>
        </p:nvSpPr>
        <p:spPr>
          <a:xfrm xmlns:a="http://schemas.openxmlformats.org/drawingml/2006/main">
            <a:off x="6572250" y="1619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3600" b="1">
                <a:solidFill>
                  <a:srgbClr val="28342F"/>
                </a:solidFill>
                <a:latin typeface="Arial"/>
                <a:ea typeface="Arial"/>
                <a:cs typeface="Arial"/>
              </a:defRPr>
            </a:defPPr>
          </a:lstStyle>
          <a:p xmlns:a="http://schemas.openxmlformats.org/drawingml/2006/main">
            <a:pPr algn="r" rtl="1">
              <a:lnSpc>
                <a:spcPct val="100000"/>
              </a:lnSpc>
              <a:buNone/>
              <a:defRPr sz="3600" b="1" lang="he-IL" altLang="en-US">
                <a:solidFill>
                  <a:srgbClr val="28342F"/>
                </a:solidFill>
                <a:latin typeface="Arial"/>
                <a:ea typeface="Arial"/>
                <a:cs typeface="Arial"/>
              </a:defRPr>
            </a:pPr>
            <a:r>
              <a:rPr sz="3600" b="1" lang="he-IL" altLang="en-US">
                <a:solidFill>
                  <a:srgbClr val="28342F"/>
                </a:solidFill>
                <a:latin typeface="Arial"/>
                <a:ea typeface="Arial"/>
                <a:cs typeface="Arial"/>
              </a:rPr>
              <a:t>קינסיולוגיה מעשית</a:t>
            </a:r>
          </a:p>
        </p:txBody>
      </p:sp>
      <p:sp>
        <p:nvSpPr>
          <p:cNvPr id="3" name="">
            <a:extLst xmlns:a="http://schemas.openxmlformats.org/drawingml/2006/main">
              <a:ext uri="{FF2B5EF4-FFF2-40B4-BE49-F238E27FC236}">
                <a16:creationId xmlns:a16="http://schemas.microsoft.com/office/drawing/2014/main" id="{9EEB44AD-0873-4BDE-9D0D-67C5936B3CFB}"/>
              </a:ext>
            </a:extLst>
          </p:cNvPr>
          <p:cNvSpPr>
            <a:spLocks xmlns:a="http://schemas.openxmlformats.org/drawingml/2006/main" noGrp="1"/>
          </p:cNvSpPr>
          <p:nvPr/>
        </p:nvSpPr>
        <p:spPr>
          <a:xfrm xmlns:a="http://schemas.openxmlformats.org/drawingml/2006/main">
            <a:off x="6572250" y="24955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875" b="0">
                <a:solidFill>
                  <a:srgbClr val="28342F"/>
                </a:solidFill>
                <a:latin typeface="Arial"/>
                <a:ea typeface="Arial"/>
                <a:cs typeface="Arial"/>
              </a:defRPr>
            </a:defPPr>
          </a:lstStyle>
          <a:p xmlns:a="http://schemas.openxmlformats.org/drawingml/2006/main">
            <a:pPr algn="r" rtl="1">
              <a:lnSpc>
                <a:spcPct val="105000"/>
              </a:lnSpc>
              <a:buNone/>
              <a:defRPr sz="1875" b="0" lang="he-IL" altLang="en-US">
                <a:solidFill>
                  <a:srgbClr val="28342F"/>
                </a:solidFill>
                <a:latin typeface="Arial"/>
                <a:ea typeface="Arial"/>
                <a:cs typeface="Arial"/>
              </a:defRPr>
            </a:pPr>
            <a:r>
              <a:rPr sz="1875" b="0" lang="he-IL" altLang="en-US">
                <a:solidFill>
                  <a:srgbClr val="28342F"/>
                </a:solidFill>
                <a:latin typeface="Arial"/>
                <a:ea typeface="Arial"/>
                <a:cs typeface="Arial"/>
              </a:rPr>
              <a:t>להקשיב לגוף, לרגש ולמה שנמצא מתחת למילים</a:t>
            </a:r>
          </a:p>
        </p:txBody>
      </p:sp>
      <p:sp>
        <p:nvSpPr>
          <p:cNvPr id="4" name="">
            <a:extLst xmlns:a="http://schemas.openxmlformats.org/drawingml/2006/main">
              <a:ext uri="{FF2B5EF4-FFF2-40B4-BE49-F238E27FC236}">
                <a16:creationId xmlns:a16="http://schemas.microsoft.com/office/drawing/2014/main" id="{7F41EBA5-3B56-4AA2-B62A-80AB95F2C030}"/>
              </a:ext>
            </a:extLst>
          </p:cNvPr>
          <p:cNvSpPr>
            <a:spLocks xmlns:a="http://schemas.openxmlformats.org/drawingml/2006/main" noGrp="1"/>
          </p:cNvSpPr>
          <p:nvPr/>
        </p:nvSpPr>
        <p:spPr>
          <a:xfrm xmlns:a="http://schemas.openxmlformats.org/drawingml/2006/main">
            <a:off x="6572250" y="3286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6B6A64"/>
                </a:solidFill>
                <a:latin typeface="Arial"/>
                <a:ea typeface="Arial"/>
                <a:cs typeface="Arial"/>
              </a:defRPr>
            </a:defPPr>
          </a:lstStyle>
          <a:p xmlns:a="http://schemas.openxmlformats.org/drawingml/2006/main">
            <a:pPr algn="r" rtl="1">
              <a:lnSpc>
                <a:spcPct val="100000"/>
              </a:lnSpc>
              <a:buNone/>
              <a:defRPr sz="1275" b="0" lang="he-IL" altLang="en-US">
                <a:solidFill>
                  <a:srgbClr val="6B6A64"/>
                </a:solidFill>
                <a:latin typeface="Arial"/>
                <a:ea typeface="Arial"/>
                <a:cs typeface="Arial"/>
              </a:defRPr>
            </a:pPr>
            <a:r>
              <a:rPr sz="1275" b="0" lang="he-IL" altLang="en-US">
                <a:solidFill>
                  <a:srgbClr val="6B6A64"/>
                </a:solidFill>
                <a:latin typeface="Arial"/>
                <a:ea typeface="Arial"/>
                <a:cs typeface="Arial"/>
              </a:rPr>
              <a:t>מבוא קצר להיסטוריה ולחמשת האלמנטים</a:t>
            </a:r>
          </a:p>
        </p:txBody>
      </p:sp>
    </p:spTree>
    <p:extLst>
      <p:ext uri="{BB962C8B-B14F-4D97-AF65-F5344CB8AC3E}">
        <p14:creationId xmlns:p14="http://schemas.microsoft.com/office/powerpoint/2010/main" val="1330069887"/>
      </p:ext>
    </p:extLst>
  </p:cSld>
</p:sld>
</file>

<file path=ppt/slides/slide2.xml><?xml version="1.0" encoding="utf-8"?>
<p:sld xmlns:p="http://schemas.openxmlformats.org/presentationml/2006/main">
  <p:cSld>
    <p:bg>
      <p:bgPr>
        <a:solidFill xmlns:a="http://schemas.openxmlformats.org/drawingml/2006/main">
          <a:srgbClr val="E6E9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45FCADA-F026-4C0A-8877-89858C094EA9}"/>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293E3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3BD18FE-9DD4-46B8-8960-7836627204B0}"/>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141E1A"/>
                </a:solidFill>
                <a:latin typeface="Arial"/>
                <a:ea typeface="Arial"/>
                <a:cs typeface="Arial"/>
              </a:defRPr>
            </a:defPPr>
          </a:lstStyle>
          <a:p xmlns:a="http://schemas.openxmlformats.org/drawingml/2006/main">
            <a:pPr algn="r" rtl="1">
              <a:lnSpc>
                <a:spcPct val="100000"/>
              </a:lnSpc>
              <a:buNone/>
              <a:defRPr sz="2400" b="1" lang="he-IL" altLang="en-US">
                <a:solidFill>
                  <a:srgbClr val="141E1A"/>
                </a:solidFill>
                <a:latin typeface="Arial"/>
                <a:ea typeface="Arial"/>
                <a:cs typeface="Arial"/>
              </a:defRPr>
            </a:pPr>
            <a:r>
              <a:rPr sz="2400" b="1" lang="he-IL" altLang="en-US">
                <a:solidFill>
                  <a:srgbClr val="141E1A"/>
                </a:solidFill>
                <a:latin typeface="Arial"/>
                <a:ea typeface="Arial"/>
                <a:cs typeface="Arial"/>
              </a:rPr>
              <a:t>מהי קינסיולוגיה מעשית</a:t>
            </a:r>
          </a:p>
        </p:txBody>
      </p:sp>
      <p:sp>
        <p:nvSpPr>
          <p:cNvPr id="3" name="">
            <a:extLst xmlns:a="http://schemas.openxmlformats.org/drawingml/2006/main">
              <a:ext uri="{FF2B5EF4-FFF2-40B4-BE49-F238E27FC236}">
                <a16:creationId xmlns:a16="http://schemas.microsoft.com/office/drawing/2014/main" id="{D53A6AE6-9FF5-43CE-94E5-60489779C9CF}"/>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1E2F28"/>
                </a:solidFill>
                <a:latin typeface="Arial"/>
                <a:ea typeface="Arial"/>
                <a:cs typeface="Arial"/>
              </a:defRPr>
            </a:defPPr>
          </a:lstStyle>
          <a:p xmlns:a="http://schemas.openxmlformats.org/drawingml/2006/main">
            <a:pPr algn="r" rtl="1">
              <a:lnSpc>
                <a:spcPct val="100000"/>
              </a:lnSpc>
              <a:buNone/>
              <a:defRPr sz="1500" b="0" lang="he-IL" altLang="en-US">
                <a:solidFill>
                  <a:srgbClr val="1E2F28"/>
                </a:solidFill>
                <a:latin typeface="Arial"/>
                <a:ea typeface="Arial"/>
                <a:cs typeface="Arial"/>
              </a:defRPr>
            </a:pPr>
            <a:r>
              <a:rPr sz="1500" b="0" lang="he-IL" altLang="en-US">
                <a:solidFill>
                  <a:srgbClr val="1E2F28"/>
                </a:solidFill>
                <a:latin typeface="Arial"/>
                <a:ea typeface="Arial"/>
                <a:cs typeface="Arial"/>
              </a:rPr>
              <a:t>גישה טיפולית אישית שנבנתה מתוך לימוד, ניסיון והקשבה</a:t>
            </a:r>
          </a:p>
        </p:txBody>
      </p:sp>
      <p:sp>
        <p:nvSpPr>
          <p:cNvPr id="4" name="">
            <a:extLst xmlns:a="http://schemas.openxmlformats.org/drawingml/2006/main">
              <a:ext uri="{FF2B5EF4-FFF2-40B4-BE49-F238E27FC236}">
                <a16:creationId xmlns:a16="http://schemas.microsoft.com/office/drawing/2014/main" id="{E1F7AC06-2DDE-4277-B49C-E2042285F252}"/>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A2AEA9"/>
            </a:solidFill>
            <a:prstDash val="solid"/>
          </a:ln>
        </p:spPr>
      </p:sp>
      <p:sp>
        <p:nvSpPr>
          <p:cNvPr id="5" name="">
            <a:extLst xmlns:a="http://schemas.openxmlformats.org/drawingml/2006/main">
              <a:ext uri="{FF2B5EF4-FFF2-40B4-BE49-F238E27FC236}">
                <a16:creationId xmlns:a16="http://schemas.microsoft.com/office/drawing/2014/main" id="{E6E0FC4C-AB93-41C7-B127-6FF3FC6A2BCF}"/>
              </a:ext>
            </a:extLst>
          </p:cNvPr>
          <p:cNvSpPr>
            <a:spLocks xmlns:a="http://schemas.openxmlformats.org/drawingml/2006/main" noGrp="1"/>
          </p:cNvSpPr>
          <p:nvPr/>
        </p:nvSpPr>
        <p:spPr>
          <a:xfrm xmlns:a="http://schemas.openxmlformats.org/drawingml/2006/main">
            <a:off x="6000750" y="18097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2550" b="1">
                <a:solidFill>
                  <a:srgbClr val="293E35"/>
                </a:solidFill>
                <a:latin typeface="Arial"/>
                <a:ea typeface="Arial"/>
                <a:cs typeface="Arial"/>
              </a:defRPr>
            </a:defPPr>
          </a:lstStyle>
          <a:p xmlns:a="http://schemas.openxmlformats.org/drawingml/2006/main">
            <a:pPr algn="r" rtl="1">
              <a:lnSpc>
                <a:spcPct val="95000"/>
              </a:lnSpc>
              <a:buNone/>
              <a:defRPr sz="2550" b="1" lang="he-IL" altLang="en-US">
                <a:solidFill>
                  <a:srgbClr val="293E35"/>
                </a:solidFill>
                <a:latin typeface="Arial"/>
                <a:ea typeface="Arial"/>
                <a:cs typeface="Arial"/>
              </a:defRPr>
            </a:pPr>
            <a:r>
              <a:rPr sz="2550" b="1" lang="he-IL" altLang="en-US">
                <a:solidFill>
                  <a:srgbClr val="293E35"/>
                </a:solidFill>
                <a:latin typeface="Arial"/>
                <a:ea typeface="Arial"/>
                <a:cs typeface="Arial"/>
              </a:rPr>
              <a:t>תגובה של שריר משמשת כמשוב בתוך שיחה טיפולית</a:t>
            </a:r>
          </a:p>
        </p:txBody>
      </p:sp>
      <p:sp>
        <p:nvSpPr>
          <p:cNvPr id="6" name="">
            <a:extLst xmlns:a="http://schemas.openxmlformats.org/drawingml/2006/main">
              <a:ext uri="{FF2B5EF4-FFF2-40B4-BE49-F238E27FC236}">
                <a16:creationId xmlns:a16="http://schemas.microsoft.com/office/drawing/2014/main" id="{797D4D7C-48C8-4C9B-9ADA-367B096A71CB}"/>
              </a:ext>
            </a:extLst>
          </p:cNvPr>
          <p:cNvSpPr>
            <a:spLocks xmlns:a="http://schemas.openxmlformats.org/drawingml/2006/main" noGrp="1"/>
          </p:cNvSpPr>
          <p:nvPr/>
        </p:nvSpPr>
        <p:spPr>
          <a:xfrm xmlns:a="http://schemas.openxmlformats.org/drawingml/2006/main">
            <a:off x="6096000" y="30480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800" b="0">
                <a:solidFill>
                  <a:srgbClr val="141E1A"/>
                </a:solidFill>
                <a:latin typeface="Arial"/>
                <a:ea typeface="Arial"/>
                <a:cs typeface="Arial"/>
              </a:defRPr>
            </a:defPPr>
          </a:lstStyle>
          <a:p xmlns:a="http://schemas.openxmlformats.org/drawingml/2006/main">
            <a:pPr algn="r" rtl="1">
              <a:lnSpc>
                <a:spcPct val="108000"/>
              </a:lnSpc>
              <a:buNone/>
              <a:defRPr sz="1800" b="0" lang="he-IL" altLang="en-US">
                <a:solidFill>
                  <a:srgbClr val="141E1A"/>
                </a:solidFill>
                <a:latin typeface="Arial"/>
                <a:ea typeface="Arial"/>
                <a:cs typeface="Arial"/>
              </a:defRPr>
            </a:pPr>
            <a:r>
              <a:rPr sz="1800" b="0" lang="he-IL" altLang="en-US">
                <a:solidFill>
                  <a:srgbClr val="141E1A"/>
                </a:solidFill>
                <a:latin typeface="Arial"/>
                <a:ea typeface="Arial"/>
                <a:cs typeface="Arial"/>
              </a:rPr>
              <a:t>בדרך הזאת מתבוננים בקשר בין תגובת הגוף לבין סטרס, רגשות, תפיסות ואמונות. הבדיקה אינה עומדת לבדה. היא משתלבת בהקשבה למטופל ובשיקול הדעת של המטפלת.</a:t>
            </a:r>
          </a:p>
        </p:txBody>
      </p:sp>
      <p:sp>
        <p:nvSpPr>
          <p:cNvPr id="7" name="">
            <a:extLst xmlns:a="http://schemas.openxmlformats.org/drawingml/2006/main">
              <a:ext uri="{FF2B5EF4-FFF2-40B4-BE49-F238E27FC236}">
                <a16:creationId xmlns:a16="http://schemas.microsoft.com/office/drawing/2014/main" id="{EE7C86A2-BF5C-41A6-8FD8-D1704E6CCB56}"/>
              </a:ext>
            </a:extLst>
          </p:cNvPr>
          <p:cNvSpPr>
            <a:spLocks xmlns:a="http://schemas.openxmlformats.org/drawingml/2006/main" noGrp="1"/>
          </p:cNvSpPr>
          <p:nvPr/>
        </p:nvSpPr>
        <p:spPr>
          <a:xfrm xmlns:a="http://schemas.openxmlformats.org/drawingml/2006/main">
            <a:off x="1238250" y="1952625"/>
            <a:ext cx="2857500" cy="2857500"/>
          </a:xfrm>
          <a:prstGeom xmlns:a="http://schemas.openxmlformats.org/drawingml/2006/main" prst="ellipse">
            <a:avLst/>
          </a:prstGeom>
          <a:solidFill xmlns:a="http://schemas.openxmlformats.org/drawingml/2006/main">
            <a:srgbClr val="F9FAF9"/>
          </a:solidFill>
          <a:ln xmlns:a="http://schemas.openxmlformats.org/drawingml/2006/main" w="19050">
            <a:solidFill>
              <a:srgbClr val="A2AEA9"/>
            </a:solidFill>
            <a:prstDash val="solid"/>
          </a:ln>
        </p:spPr>
      </p:sp>
      <p:sp>
        <p:nvSpPr>
          <p:cNvPr id="8" name="">
            <a:extLst xmlns:a="http://schemas.openxmlformats.org/drawingml/2006/main">
              <a:ext uri="{FF2B5EF4-FFF2-40B4-BE49-F238E27FC236}">
                <a16:creationId xmlns:a16="http://schemas.microsoft.com/office/drawing/2014/main" id="{52A4613F-1DD0-4E5C-9030-A9AEBAD285F1}"/>
              </a:ext>
            </a:extLst>
          </p:cNvPr>
          <p:cNvSpPr>
            <a:spLocks xmlns:a="http://schemas.openxmlformats.org/drawingml/2006/main" noGrp="1"/>
          </p:cNvSpPr>
          <p:nvPr/>
        </p:nvSpPr>
        <p:spPr>
          <a:xfrm xmlns:a="http://schemas.openxmlformats.org/drawingml/2006/main">
            <a:off x="1809750" y="2381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325" b="1">
                <a:solidFill>
                  <a:srgbClr val="293E35"/>
                </a:solidFill>
                <a:latin typeface="Arial"/>
                <a:ea typeface="Arial"/>
                <a:cs typeface="Arial"/>
              </a:defRPr>
            </a:defPPr>
          </a:lstStyle>
          <a:p xmlns:a="http://schemas.openxmlformats.org/drawingml/2006/main">
            <a:pPr algn="ctr" rtl="1">
              <a:lnSpc>
                <a:spcPct val="100000"/>
              </a:lnSpc>
              <a:buNone/>
              <a:defRPr sz="2325" b="1" lang="he-IL" altLang="en-US">
                <a:solidFill>
                  <a:srgbClr val="293E35"/>
                </a:solidFill>
                <a:latin typeface="Arial"/>
                <a:ea typeface="Arial"/>
                <a:cs typeface="Arial"/>
              </a:defRPr>
            </a:pPr>
            <a:r>
              <a:rPr sz="2325" b="1" lang="he-IL" altLang="en-US">
                <a:solidFill>
                  <a:srgbClr val="293E35"/>
                </a:solidFill>
                <a:latin typeface="Arial"/>
                <a:ea typeface="Arial"/>
                <a:cs typeface="Arial"/>
              </a:rPr>
              <a:t>הגוף</a:t>
            </a:r>
          </a:p>
        </p:txBody>
      </p:sp>
      <p:sp>
        <p:nvSpPr>
          <p:cNvPr id="9" name="">
            <a:extLst xmlns:a="http://schemas.openxmlformats.org/drawingml/2006/main">
              <a:ext uri="{FF2B5EF4-FFF2-40B4-BE49-F238E27FC236}">
                <a16:creationId xmlns:a16="http://schemas.microsoft.com/office/drawing/2014/main" id="{5F39CA4E-E373-4F08-87ED-3A3C10FDDAEA}"/>
              </a:ext>
            </a:extLst>
          </p:cNvPr>
          <p:cNvSpPr>
            <a:spLocks xmlns:a="http://schemas.openxmlformats.org/drawingml/2006/main" noGrp="1"/>
          </p:cNvSpPr>
          <p:nvPr/>
        </p:nvSpPr>
        <p:spPr>
          <a:xfrm xmlns:a="http://schemas.openxmlformats.org/drawingml/2006/main">
            <a:off x="1809750" y="3143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325" b="1">
                <a:solidFill>
                  <a:srgbClr val="293E35"/>
                </a:solidFill>
                <a:latin typeface="Arial"/>
                <a:ea typeface="Arial"/>
                <a:cs typeface="Arial"/>
              </a:defRPr>
            </a:defPPr>
          </a:lstStyle>
          <a:p xmlns:a="http://schemas.openxmlformats.org/drawingml/2006/main">
            <a:pPr algn="ctr" rtl="1">
              <a:lnSpc>
                <a:spcPct val="100000"/>
              </a:lnSpc>
              <a:buNone/>
              <a:defRPr sz="2325" b="1" lang="he-IL" altLang="en-US">
                <a:solidFill>
                  <a:srgbClr val="293E35"/>
                </a:solidFill>
                <a:latin typeface="Arial"/>
                <a:ea typeface="Arial"/>
                <a:cs typeface="Arial"/>
              </a:defRPr>
            </a:pPr>
            <a:r>
              <a:rPr sz="2325" b="1" lang="he-IL" altLang="en-US">
                <a:solidFill>
                  <a:srgbClr val="293E35"/>
                </a:solidFill>
                <a:latin typeface="Arial"/>
                <a:ea typeface="Arial"/>
                <a:cs typeface="Arial"/>
              </a:rPr>
              <a:t>משוב</a:t>
            </a:r>
          </a:p>
        </p:txBody>
      </p:sp>
      <p:sp>
        <p:nvSpPr>
          <p:cNvPr id="10" name="">
            <a:extLst xmlns:a="http://schemas.openxmlformats.org/drawingml/2006/main">
              <a:ext uri="{FF2B5EF4-FFF2-40B4-BE49-F238E27FC236}">
                <a16:creationId xmlns:a16="http://schemas.microsoft.com/office/drawing/2014/main" id="{6873EFD3-303C-4401-B642-485F1F1154D1}"/>
              </a:ext>
            </a:extLst>
          </p:cNvPr>
          <p:cNvSpPr>
            <a:spLocks xmlns:a="http://schemas.openxmlformats.org/drawingml/2006/main" noGrp="1"/>
          </p:cNvSpPr>
          <p:nvPr/>
        </p:nvSpPr>
        <p:spPr>
          <a:xfrm xmlns:a="http://schemas.openxmlformats.org/drawingml/2006/main">
            <a:off x="180975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325" b="1">
                <a:solidFill>
                  <a:srgbClr val="293E35"/>
                </a:solidFill>
                <a:latin typeface="Arial"/>
                <a:ea typeface="Arial"/>
                <a:cs typeface="Arial"/>
              </a:defRPr>
            </a:defPPr>
          </a:lstStyle>
          <a:p xmlns:a="http://schemas.openxmlformats.org/drawingml/2006/main">
            <a:pPr algn="ctr" rtl="1">
              <a:lnSpc>
                <a:spcPct val="100000"/>
              </a:lnSpc>
              <a:buNone/>
              <a:defRPr sz="2325" b="1" lang="he-IL" altLang="en-US">
                <a:solidFill>
                  <a:srgbClr val="293E35"/>
                </a:solidFill>
                <a:latin typeface="Arial"/>
                <a:ea typeface="Arial"/>
                <a:cs typeface="Arial"/>
              </a:defRPr>
            </a:pPr>
            <a:r>
              <a:rPr sz="2325" b="1" lang="he-IL" altLang="en-US">
                <a:solidFill>
                  <a:srgbClr val="293E35"/>
                </a:solidFill>
                <a:latin typeface="Arial"/>
                <a:ea typeface="Arial"/>
                <a:cs typeface="Arial"/>
              </a:rPr>
              <a:t>הקשבה</a:t>
            </a:r>
          </a:p>
        </p:txBody>
      </p:sp>
      <p:sp>
        <p:nvSpPr>
          <p:cNvPr id="11" name="">
            <a:extLst xmlns:a="http://schemas.openxmlformats.org/drawingml/2006/main">
              <a:ext uri="{FF2B5EF4-FFF2-40B4-BE49-F238E27FC236}">
                <a16:creationId xmlns:a16="http://schemas.microsoft.com/office/drawing/2014/main" id="{CCFA4080-82B4-49A6-A548-0A9F7D3EB577}"/>
              </a:ext>
            </a:extLst>
          </p:cNvPr>
          <p:cNvSpPr>
            <a:spLocks xmlns:a="http://schemas.openxmlformats.org/drawingml/2006/main" noGrp="1"/>
          </p:cNvSpPr>
          <p:nvPr/>
        </p:nvSpPr>
        <p:spPr>
          <a:xfrm xmlns:a="http://schemas.openxmlformats.org/drawingml/2006/main">
            <a:off x="1143000" y="5715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050" b="0">
                <a:solidFill>
                  <a:srgbClr val="1E2F28"/>
                </a:solidFill>
                <a:latin typeface="Arial"/>
                <a:ea typeface="Arial"/>
                <a:cs typeface="Arial"/>
              </a:defRPr>
            </a:defPPr>
          </a:lstStyle>
          <a:p xmlns:a="http://schemas.openxmlformats.org/drawingml/2006/main">
            <a:pPr algn="ctr" rtl="1">
              <a:lnSpc>
                <a:spcPct val="100000"/>
              </a:lnSpc>
              <a:buNone/>
              <a:defRPr sz="1050" b="0" lang="he-IL" altLang="en-US">
                <a:solidFill>
                  <a:srgbClr val="1E2F28"/>
                </a:solidFill>
                <a:latin typeface="Arial"/>
                <a:ea typeface="Arial"/>
                <a:cs typeface="Arial"/>
              </a:defRPr>
            </a:pPr>
            <a:r>
              <a:rPr sz="1050" b="0" lang="he-IL" altLang="en-US">
                <a:solidFill>
                  <a:srgbClr val="1E2F28"/>
                </a:solidFill>
                <a:latin typeface="Arial"/>
                <a:ea typeface="Arial"/>
                <a:cs typeface="Arial"/>
              </a:rPr>
              <a:t>המצגת מציגה תפיסות טיפוליות ומסורות מקצועיות. היא אינה תחליף לאבחון או טיפול רפואי.</a:t>
            </a:r>
          </a:p>
        </p:txBody>
      </p:sp>
      <p:sp>
        <p:nvSpPr>
          <p:cNvPr id="12" name="">
            <a:extLst xmlns:a="http://schemas.openxmlformats.org/drawingml/2006/main">
              <a:ext uri="{FF2B5EF4-FFF2-40B4-BE49-F238E27FC236}">
                <a16:creationId xmlns:a16="http://schemas.microsoft.com/office/drawing/2014/main" id="{7D196F13-6D6C-4120-B8AD-42AB3AC96809}"/>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1E2F28"/>
                </a:solidFill>
                <a:latin typeface="Arial"/>
                <a:ea typeface="Arial"/>
                <a:cs typeface="Arial"/>
              </a:defRPr>
            </a:defPPr>
          </a:lstStyle>
          <a:p xmlns:a="http://schemas.openxmlformats.org/drawingml/2006/main">
            <a:pPr algn="l" rtl="1">
              <a:lnSpc>
                <a:spcPct val="100000"/>
              </a:lnSpc>
              <a:buNone/>
              <a:defRPr sz="900" b="0" lang="he-IL" altLang="en-US">
                <a:solidFill>
                  <a:srgbClr val="1E2F28"/>
                </a:solidFill>
                <a:latin typeface="Arial"/>
                <a:ea typeface="Arial"/>
                <a:cs typeface="Arial"/>
              </a:defRPr>
            </a:pPr>
            <a:r>
              <a:rPr sz="900" b="0" lang="he-IL" altLang="en-US">
                <a:solidFill>
                  <a:srgbClr val="1E2F28"/>
                </a:solidFill>
                <a:latin typeface="Arial"/>
                <a:ea typeface="Arial"/>
                <a:cs typeface="Arial"/>
              </a:rPr>
              <a:t>גרסה מודרנית ושקטה</a:t>
            </a:r>
          </a:p>
        </p:txBody>
      </p:sp>
      <p:sp>
        <p:nvSpPr>
          <p:cNvPr id="13" name="">
            <a:extLst xmlns:a="http://schemas.openxmlformats.org/drawingml/2006/main">
              <a:ext uri="{FF2B5EF4-FFF2-40B4-BE49-F238E27FC236}">
                <a16:creationId xmlns:a16="http://schemas.microsoft.com/office/drawing/2014/main" id="{4CCDE8D2-81C7-4A01-B7FC-8DCBE588C5BB}"/>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1E2F28"/>
                </a:solidFill>
                <a:latin typeface="Arial"/>
                <a:ea typeface="Arial"/>
                <a:cs typeface="Arial"/>
              </a:defRPr>
            </a:defPPr>
          </a:lstStyle>
          <a:p xmlns:a="http://schemas.openxmlformats.org/drawingml/2006/main">
            <a:pPr algn="r">
              <a:lnSpc>
                <a:spcPct val="100000"/>
              </a:lnSpc>
              <a:buNone/>
              <a:defRPr sz="975" b="0">
                <a:solidFill>
                  <a:srgbClr val="1E2F28"/>
                </a:solidFill>
                <a:latin typeface="Arial"/>
                <a:ea typeface="Arial"/>
                <a:cs typeface="Arial"/>
              </a:defRPr>
            </a:pPr>
            <a:r>
              <a:rPr sz="975" b="0">
                <a:solidFill>
                  <a:srgbClr val="1E2F28"/>
                </a:solidFill>
                <a:latin typeface="Arial"/>
                <a:ea typeface="Arial"/>
                <a:cs typeface="Arial"/>
              </a:rPr>
              <a:t>02</a:t>
            </a:r>
          </a:p>
        </p:txBody>
      </p:sp>
    </p:spTree>
    <p:extLst>
      <p:ext uri="{BB962C8B-B14F-4D97-AF65-F5344CB8AC3E}">
        <p14:creationId xmlns:p14="http://schemas.microsoft.com/office/powerpoint/2010/main" val="551292380"/>
      </p:ext>
    </p:extLst>
  </p:cSld>
</p:sld>
</file>

<file path=ppt/slides/slide3.xml><?xml version="1.0" encoding="utf-8"?>
<p:sld xmlns:p="http://schemas.openxmlformats.org/presentationml/2006/main">
  <p:cSld>
    <p:bg>
      <p:bgPr>
        <a:solidFill xmlns:a="http://schemas.openxmlformats.org/drawingml/2006/main">
          <a:srgbClr val="EFEB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E062F16-4C25-4A6D-B11D-7904AAEDCE64}"/>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62475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30E820-C0A5-4754-A74F-CD4D0CB4C961}"/>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2F2228"/>
                </a:solidFill>
                <a:latin typeface="Arial"/>
                <a:ea typeface="Arial"/>
                <a:cs typeface="Arial"/>
              </a:defRPr>
            </a:defPPr>
          </a:lstStyle>
          <a:p xmlns:a="http://schemas.openxmlformats.org/drawingml/2006/main">
            <a:pPr algn="r" rtl="1">
              <a:lnSpc>
                <a:spcPct val="100000"/>
              </a:lnSpc>
              <a:buNone/>
              <a:defRPr sz="2400" b="1" lang="he-IL" altLang="en-US">
                <a:solidFill>
                  <a:srgbClr val="2F2228"/>
                </a:solidFill>
                <a:latin typeface="Arial"/>
                <a:ea typeface="Arial"/>
                <a:cs typeface="Arial"/>
              </a:defRPr>
            </a:pPr>
            <a:r>
              <a:rPr sz="2400" b="1" lang="he-IL" altLang="en-US">
                <a:solidFill>
                  <a:srgbClr val="2F2228"/>
                </a:solidFill>
                <a:latin typeface="Arial"/>
                <a:ea typeface="Arial"/>
                <a:cs typeface="Arial"/>
              </a:rPr>
              <a:t>התפתחות הקינסיולוגיה המעשית</a:t>
            </a:r>
          </a:p>
        </p:txBody>
      </p:sp>
      <p:sp>
        <p:nvSpPr>
          <p:cNvPr id="3" name="">
            <a:extLst xmlns:a="http://schemas.openxmlformats.org/drawingml/2006/main">
              <a:ext uri="{FF2B5EF4-FFF2-40B4-BE49-F238E27FC236}">
                <a16:creationId xmlns:a16="http://schemas.microsoft.com/office/drawing/2014/main" id="{CA923414-031E-4F70-B765-03865565B26E}"/>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49353E"/>
                </a:solidFill>
                <a:latin typeface="Arial"/>
                <a:ea typeface="Arial"/>
                <a:cs typeface="Arial"/>
              </a:defRPr>
            </a:defPPr>
          </a:lstStyle>
          <a:p xmlns:a="http://schemas.openxmlformats.org/drawingml/2006/main">
            <a:pPr algn="r" rtl="1">
              <a:lnSpc>
                <a:spcPct val="100000"/>
              </a:lnSpc>
              <a:buNone/>
              <a:defRPr sz="1500" b="0" lang="he-IL" altLang="en-US">
                <a:solidFill>
                  <a:srgbClr val="49353E"/>
                </a:solidFill>
                <a:latin typeface="Arial"/>
                <a:ea typeface="Arial"/>
                <a:cs typeface="Arial"/>
              </a:defRPr>
            </a:pPr>
            <a:r>
              <a:rPr sz="1500" b="0" lang="he-IL" altLang="en-US">
                <a:solidFill>
                  <a:srgbClr val="49353E"/>
                </a:solidFill>
                <a:latin typeface="Arial"/>
                <a:ea typeface="Arial"/>
                <a:cs typeface="Arial"/>
              </a:rPr>
              <a:t>לא ממציא יחיד, אלא שרשרת של רעיונות ושיטות</a:t>
            </a:r>
          </a:p>
        </p:txBody>
      </p:sp>
      <p:sp>
        <p:nvSpPr>
          <p:cNvPr id="4" name="">
            <a:extLst xmlns:a="http://schemas.openxmlformats.org/drawingml/2006/main">
              <a:ext uri="{FF2B5EF4-FFF2-40B4-BE49-F238E27FC236}">
                <a16:creationId xmlns:a16="http://schemas.microsoft.com/office/drawing/2014/main" id="{A1A9244A-4EF1-4350-8FE9-EDF664608271}"/>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C1B3B9"/>
            </a:solidFill>
            <a:prstDash val="solid"/>
          </a:ln>
        </p:spPr>
      </p:sp>
      <p:sp>
        <p:nvSpPr>
          <p:cNvPr id="5" name="">
            <a:extLst xmlns:a="http://schemas.openxmlformats.org/drawingml/2006/main">
              <a:ext uri="{FF2B5EF4-FFF2-40B4-BE49-F238E27FC236}">
                <a16:creationId xmlns:a16="http://schemas.microsoft.com/office/drawing/2014/main" id="{66E83E44-4C65-47E0-82C0-0E38915A96CB}"/>
              </a:ext>
            </a:extLst>
          </p:cNvPr>
          <p:cNvSpPr>
            <a:spLocks xmlns:a="http://schemas.openxmlformats.org/drawingml/2006/main" noGrp="1"/>
          </p:cNvSpPr>
          <p:nvPr/>
        </p:nvSpPr>
        <p:spPr>
          <a:xfrm xmlns:a="http://schemas.openxmlformats.org/drawingml/2006/main">
            <a:off x="1066800" y="3219450"/>
            <a:ext cx="10001250" cy="0"/>
          </a:xfrm>
          <a:prstGeom xmlns:a="http://schemas.openxmlformats.org/drawingml/2006/main" prst="line">
            <a:avLst/>
          </a:prstGeom>
          <a:noFill xmlns:a="http://schemas.openxmlformats.org/drawingml/2006/main"/>
          <a:ln xmlns:a="http://schemas.openxmlformats.org/drawingml/2006/main" w="47625">
            <a:solidFill>
              <a:srgbClr val="C1B3B9"/>
            </a:solidFill>
            <a:prstDash val="solid"/>
          </a:ln>
        </p:spPr>
      </p:sp>
      <p:sp>
        <p:nvSpPr>
          <p:cNvPr id="6" name="">
            <a:extLst xmlns:a="http://schemas.openxmlformats.org/drawingml/2006/main">
              <a:ext uri="{FF2B5EF4-FFF2-40B4-BE49-F238E27FC236}">
                <a16:creationId xmlns:a16="http://schemas.microsoft.com/office/drawing/2014/main" id="{3A10B7E7-5B0C-4707-A715-3EB162DF0912}"/>
              </a:ext>
            </a:extLst>
          </p:cNvPr>
          <p:cNvSpPr>
            <a:spLocks xmlns:a="http://schemas.openxmlformats.org/drawingml/2006/main" noGrp="1"/>
          </p:cNvSpPr>
          <p:nvPr/>
        </p:nvSpPr>
        <p:spPr>
          <a:xfrm xmlns:a="http://schemas.openxmlformats.org/drawingml/2006/main">
            <a:off x="1143000" y="2857500"/>
            <a:ext cx="723900" cy="7239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8708474-156C-4701-8B71-5060659193B2}"/>
              </a:ext>
            </a:extLst>
          </p:cNvPr>
          <p:cNvSpPr>
            <a:spLocks xmlns:a="http://schemas.openxmlformats.org/drawingml/2006/main" noGrp="1"/>
          </p:cNvSpPr>
          <p:nvPr/>
        </p:nvSpPr>
        <p:spPr>
          <a:xfrm xmlns:a="http://schemas.openxmlformats.org/drawingml/2006/main">
            <a:off x="114300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5EBAEC2B-73DE-4298-9299-2BBC76920067}"/>
              </a:ext>
            </a:extLst>
          </p:cNvPr>
          <p:cNvSpPr>
            <a:spLocks xmlns:a="http://schemas.openxmlformats.org/drawingml/2006/main" noGrp="1"/>
          </p:cNvSpPr>
          <p:nvPr/>
        </p:nvSpPr>
        <p:spPr>
          <a:xfrm xmlns:a="http://schemas.openxmlformats.org/drawingml/2006/main">
            <a:off x="97155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F2228"/>
                </a:solidFill>
                <a:latin typeface="Arial"/>
                <a:ea typeface="Arial"/>
                <a:cs typeface="Arial"/>
              </a:defRPr>
            </a:defPPr>
          </a:lstStyle>
          <a:p xmlns:a="http://schemas.openxmlformats.org/drawingml/2006/main">
            <a:pPr algn="r">
              <a:lnSpc>
                <a:spcPct val="100000"/>
              </a:lnSpc>
              <a:buNone/>
              <a:defRPr sz="2025" b="1">
                <a:solidFill>
                  <a:srgbClr val="2F2228"/>
                </a:solidFill>
                <a:latin typeface="Arial"/>
                <a:ea typeface="Arial"/>
                <a:cs typeface="Arial"/>
              </a:defRPr>
            </a:pPr>
            <a:r>
              <a:rPr sz="2025" b="1">
                <a:solidFill>
                  <a:srgbClr val="2F2228"/>
                </a:solidFill>
                <a:latin typeface="Arial"/>
                <a:ea typeface="Arial"/>
                <a:cs typeface="Arial"/>
              </a:rPr>
              <a:t>1915</a:t>
            </a:r>
          </a:p>
        </p:txBody>
      </p:sp>
      <p:sp>
        <p:nvSpPr>
          <p:cNvPr id="9" name="">
            <a:extLst xmlns:a="http://schemas.openxmlformats.org/drawingml/2006/main">
              <a:ext uri="{FF2B5EF4-FFF2-40B4-BE49-F238E27FC236}">
                <a16:creationId xmlns:a16="http://schemas.microsoft.com/office/drawing/2014/main" id="{5771F662-3A44-4286-B843-C86B89AB91A9}"/>
              </a:ext>
            </a:extLst>
          </p:cNvPr>
          <p:cNvSpPr>
            <a:spLocks xmlns:a="http://schemas.openxmlformats.org/drawingml/2006/main" noGrp="1"/>
          </p:cNvSpPr>
          <p:nvPr/>
        </p:nvSpPr>
        <p:spPr>
          <a:xfrm xmlns:a="http://schemas.openxmlformats.org/drawingml/2006/main">
            <a:off x="85725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624753"/>
                </a:solidFill>
                <a:latin typeface="Arial"/>
                <a:ea typeface="Arial"/>
                <a:cs typeface="Arial"/>
              </a:defRPr>
            </a:defPPr>
          </a:lstStyle>
          <a:p xmlns:a="http://schemas.openxmlformats.org/drawingml/2006/main">
            <a:pPr algn="r" rtl="1">
              <a:lnSpc>
                <a:spcPct val="100000"/>
              </a:lnSpc>
              <a:buNone/>
              <a:defRPr sz="1575" b="1" lang="he-IL" altLang="en-US">
                <a:solidFill>
                  <a:srgbClr val="624753"/>
                </a:solidFill>
                <a:latin typeface="Arial"/>
                <a:ea typeface="Arial"/>
                <a:cs typeface="Arial"/>
              </a:defRPr>
            </a:pPr>
            <a:r>
              <a:rPr sz="1575" b="1" lang="he-IL" altLang="en-US">
                <a:solidFill>
                  <a:srgbClr val="624753"/>
                </a:solidFill>
                <a:latin typeface="Arial"/>
                <a:ea typeface="Arial"/>
                <a:cs typeface="Arial"/>
              </a:rPr>
              <a:t>בדיקות כוח שרירים</a:t>
            </a:r>
          </a:p>
        </p:txBody>
      </p:sp>
      <p:sp>
        <p:nvSpPr>
          <p:cNvPr id="10" name="">
            <a:extLst xmlns:a="http://schemas.openxmlformats.org/drawingml/2006/main">
              <a:ext uri="{FF2B5EF4-FFF2-40B4-BE49-F238E27FC236}">
                <a16:creationId xmlns:a16="http://schemas.microsoft.com/office/drawing/2014/main" id="{F29ADF30-5A2F-44FC-8044-1670F50B6332}"/>
              </a:ext>
            </a:extLst>
          </p:cNvPr>
          <p:cNvSpPr>
            <a:spLocks xmlns:a="http://schemas.openxmlformats.org/drawingml/2006/main" noGrp="1"/>
          </p:cNvSpPr>
          <p:nvPr/>
        </p:nvSpPr>
        <p:spPr>
          <a:xfrm xmlns:a="http://schemas.openxmlformats.org/drawingml/2006/main">
            <a:off x="85725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2F2228"/>
                </a:solidFill>
                <a:latin typeface="Arial"/>
                <a:ea typeface="Arial"/>
                <a:cs typeface="Arial"/>
              </a:defRPr>
            </a:defPPr>
          </a:lstStyle>
          <a:p xmlns:a="http://schemas.openxmlformats.org/drawingml/2006/main">
            <a:pPr algn="r" rtl="1">
              <a:lnSpc>
                <a:spcPct val="100000"/>
              </a:lnSpc>
              <a:buNone/>
              <a:defRPr sz="1275" b="0" lang="he-IL" altLang="en-US">
                <a:solidFill>
                  <a:srgbClr val="2F2228"/>
                </a:solidFill>
                <a:latin typeface="Arial"/>
                <a:ea typeface="Arial"/>
                <a:cs typeface="Arial"/>
              </a:defRPr>
            </a:pPr>
            <a:r>
              <a:rPr sz="1275" b="0" lang="he-IL" altLang="en-US">
                <a:solidFill>
                  <a:srgbClr val="2F2228"/>
                </a:solidFill>
                <a:latin typeface="Arial"/>
                <a:ea typeface="Arial"/>
                <a:cs typeface="Arial"/>
              </a:rPr>
              <a:t>כלי רפואי ופיזיותרפי להערכת חולשת שרירים</a:t>
            </a:r>
          </a:p>
        </p:txBody>
      </p:sp>
      <p:sp>
        <p:nvSpPr>
          <p:cNvPr id="11" name="">
            <a:extLst xmlns:a="http://schemas.openxmlformats.org/drawingml/2006/main">
              <a:ext uri="{FF2B5EF4-FFF2-40B4-BE49-F238E27FC236}">
                <a16:creationId xmlns:a16="http://schemas.microsoft.com/office/drawing/2014/main" id="{8D33EA0B-DC7F-4596-948A-684EB49D512B}"/>
              </a:ext>
            </a:extLst>
          </p:cNvPr>
          <p:cNvSpPr>
            <a:spLocks xmlns:a="http://schemas.openxmlformats.org/drawingml/2006/main" noGrp="1"/>
          </p:cNvSpPr>
          <p:nvPr/>
        </p:nvSpPr>
        <p:spPr>
          <a:xfrm xmlns:a="http://schemas.openxmlformats.org/drawingml/2006/main">
            <a:off x="3790950" y="2857500"/>
            <a:ext cx="723900" cy="7239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3179E75-902B-476F-B551-DADC9D3219DA}"/>
              </a:ext>
            </a:extLst>
          </p:cNvPr>
          <p:cNvSpPr>
            <a:spLocks xmlns:a="http://schemas.openxmlformats.org/drawingml/2006/main" noGrp="1"/>
          </p:cNvSpPr>
          <p:nvPr/>
        </p:nvSpPr>
        <p:spPr>
          <a:xfrm xmlns:a="http://schemas.openxmlformats.org/drawingml/2006/main">
            <a:off x="379095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6DDE26BF-BA27-41D2-9C57-A0CF96BD72BD}"/>
              </a:ext>
            </a:extLst>
          </p:cNvPr>
          <p:cNvSpPr>
            <a:spLocks xmlns:a="http://schemas.openxmlformats.org/drawingml/2006/main" noGrp="1"/>
          </p:cNvSpPr>
          <p:nvPr/>
        </p:nvSpPr>
        <p:spPr>
          <a:xfrm xmlns:a="http://schemas.openxmlformats.org/drawingml/2006/main">
            <a:off x="361950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F2228"/>
                </a:solidFill>
                <a:latin typeface="Arial"/>
                <a:ea typeface="Arial"/>
                <a:cs typeface="Arial"/>
              </a:defRPr>
            </a:defPPr>
          </a:lstStyle>
          <a:p xmlns:a="http://schemas.openxmlformats.org/drawingml/2006/main">
            <a:pPr algn="r">
              <a:lnSpc>
                <a:spcPct val="100000"/>
              </a:lnSpc>
              <a:buNone/>
              <a:defRPr sz="2025" b="1">
                <a:solidFill>
                  <a:srgbClr val="2F2228"/>
                </a:solidFill>
                <a:latin typeface="Arial"/>
                <a:ea typeface="Arial"/>
                <a:cs typeface="Arial"/>
              </a:defRPr>
            </a:pPr>
            <a:r>
              <a:rPr sz="2025" b="1">
                <a:solidFill>
                  <a:srgbClr val="2F2228"/>
                </a:solidFill>
                <a:latin typeface="Arial"/>
                <a:ea typeface="Arial"/>
                <a:cs typeface="Arial"/>
              </a:rPr>
              <a:t>1964</a:t>
            </a:r>
          </a:p>
        </p:txBody>
      </p:sp>
      <p:sp>
        <p:nvSpPr>
          <p:cNvPr id="14" name="">
            <a:extLst xmlns:a="http://schemas.openxmlformats.org/drawingml/2006/main">
              <a:ext uri="{FF2B5EF4-FFF2-40B4-BE49-F238E27FC236}">
                <a16:creationId xmlns:a16="http://schemas.microsoft.com/office/drawing/2014/main" id="{2EC96813-966D-41E3-9DD9-D50C1764F10E}"/>
              </a:ext>
            </a:extLst>
          </p:cNvPr>
          <p:cNvSpPr>
            <a:spLocks xmlns:a="http://schemas.openxmlformats.org/drawingml/2006/main" noGrp="1"/>
          </p:cNvSpPr>
          <p:nvPr/>
        </p:nvSpPr>
        <p:spPr>
          <a:xfrm xmlns:a="http://schemas.openxmlformats.org/drawingml/2006/main">
            <a:off x="350520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624753"/>
                </a:solidFill>
                <a:latin typeface="Arial"/>
                <a:ea typeface="Arial"/>
                <a:cs typeface="Arial"/>
              </a:defRPr>
            </a:defPPr>
          </a:lstStyle>
          <a:p xmlns:a="http://schemas.openxmlformats.org/drawingml/2006/main">
            <a:pPr algn="r" rtl="1">
              <a:lnSpc>
                <a:spcPct val="100000"/>
              </a:lnSpc>
              <a:buNone/>
              <a:defRPr sz="1575" b="1" lang="he-IL" altLang="en-US">
                <a:solidFill>
                  <a:srgbClr val="624753"/>
                </a:solidFill>
                <a:latin typeface="Arial"/>
                <a:ea typeface="Arial"/>
                <a:cs typeface="Arial"/>
              </a:defRPr>
            </a:pPr>
            <a:r>
              <a:rPr sz="1575" b="1" lang="he-IL" altLang="en-US">
                <a:solidFill>
                  <a:srgbClr val="624753"/>
                </a:solidFill>
                <a:latin typeface="Arial"/>
                <a:ea typeface="Arial"/>
                <a:cs typeface="Arial"/>
              </a:rPr>
              <a:t>ג׳ורג׳ גודהארט</a:t>
            </a:r>
          </a:p>
        </p:txBody>
      </p:sp>
      <p:sp>
        <p:nvSpPr>
          <p:cNvPr id="15" name="">
            <a:extLst xmlns:a="http://schemas.openxmlformats.org/drawingml/2006/main">
              <a:ext uri="{FF2B5EF4-FFF2-40B4-BE49-F238E27FC236}">
                <a16:creationId xmlns:a16="http://schemas.microsoft.com/office/drawing/2014/main" id="{4268CC27-234A-4B79-8CBF-9AE434113A01}"/>
              </a:ext>
            </a:extLst>
          </p:cNvPr>
          <p:cNvSpPr>
            <a:spLocks xmlns:a="http://schemas.openxmlformats.org/drawingml/2006/main" noGrp="1"/>
          </p:cNvSpPr>
          <p:nvPr/>
        </p:nvSpPr>
        <p:spPr>
          <a:xfrm xmlns:a="http://schemas.openxmlformats.org/drawingml/2006/main">
            <a:off x="350520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2F2228"/>
                </a:solidFill>
                <a:latin typeface="Arial"/>
                <a:ea typeface="Arial"/>
                <a:cs typeface="Arial"/>
              </a:defRPr>
            </a:defPPr>
          </a:lstStyle>
          <a:p xmlns:a="http://schemas.openxmlformats.org/drawingml/2006/main">
            <a:pPr algn="r" rtl="1">
              <a:lnSpc>
                <a:spcPct val="100000"/>
              </a:lnSpc>
              <a:buNone/>
              <a:defRPr sz="1275" b="0" lang="he-IL" altLang="en-US">
                <a:solidFill>
                  <a:srgbClr val="2F2228"/>
                </a:solidFill>
                <a:latin typeface="Arial"/>
                <a:ea typeface="Arial"/>
                <a:cs typeface="Arial"/>
              </a:defRPr>
            </a:pPr>
            <a:r>
              <a:rPr sz="1275" b="0" lang="he-IL" altLang="en-US">
                <a:solidFill>
                  <a:srgbClr val="2F2228"/>
                </a:solidFill>
                <a:latin typeface="Arial"/>
                <a:ea typeface="Arial"/>
                <a:cs typeface="Arial"/>
              </a:rPr>
              <a:t>פיתוח Applied Kinesiology ושילוב בדיקת השריר בהערכה טיפולית</a:t>
            </a:r>
          </a:p>
        </p:txBody>
      </p:sp>
      <p:sp>
        <p:nvSpPr>
          <p:cNvPr id="16" name="">
            <a:extLst xmlns:a="http://schemas.openxmlformats.org/drawingml/2006/main">
              <a:ext uri="{FF2B5EF4-FFF2-40B4-BE49-F238E27FC236}">
                <a16:creationId xmlns:a16="http://schemas.microsoft.com/office/drawing/2014/main" id="{6D9B7FE8-2C78-4CB3-88FF-9538400A4635}"/>
              </a:ext>
            </a:extLst>
          </p:cNvPr>
          <p:cNvSpPr>
            <a:spLocks xmlns:a="http://schemas.openxmlformats.org/drawingml/2006/main" noGrp="1"/>
          </p:cNvSpPr>
          <p:nvPr/>
        </p:nvSpPr>
        <p:spPr>
          <a:xfrm xmlns:a="http://schemas.openxmlformats.org/drawingml/2006/main">
            <a:off x="6438900" y="2857500"/>
            <a:ext cx="723900" cy="7239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1F80118-23C7-4BA7-8719-65DEEFEE56B7}"/>
              </a:ext>
            </a:extLst>
          </p:cNvPr>
          <p:cNvSpPr>
            <a:spLocks xmlns:a="http://schemas.openxmlformats.org/drawingml/2006/main" noGrp="1"/>
          </p:cNvSpPr>
          <p:nvPr/>
        </p:nvSpPr>
        <p:spPr>
          <a:xfrm xmlns:a="http://schemas.openxmlformats.org/drawingml/2006/main">
            <a:off x="643890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83B51982-F26A-42DB-96B6-A1F7439C469C}"/>
              </a:ext>
            </a:extLst>
          </p:cNvPr>
          <p:cNvSpPr>
            <a:spLocks xmlns:a="http://schemas.openxmlformats.org/drawingml/2006/main" noGrp="1"/>
          </p:cNvSpPr>
          <p:nvPr/>
        </p:nvSpPr>
        <p:spPr>
          <a:xfrm xmlns:a="http://schemas.openxmlformats.org/drawingml/2006/main">
            <a:off x="626745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F2228"/>
                </a:solidFill>
                <a:latin typeface="Arial"/>
                <a:ea typeface="Arial"/>
                <a:cs typeface="Arial"/>
              </a:defRPr>
            </a:defPPr>
          </a:lstStyle>
          <a:p xmlns:a="http://schemas.openxmlformats.org/drawingml/2006/main">
            <a:pPr algn="r">
              <a:lnSpc>
                <a:spcPct val="100000"/>
              </a:lnSpc>
              <a:buNone/>
              <a:defRPr sz="2025" b="1">
                <a:solidFill>
                  <a:srgbClr val="2F2228"/>
                </a:solidFill>
                <a:latin typeface="Arial"/>
                <a:ea typeface="Arial"/>
                <a:cs typeface="Arial"/>
              </a:defRPr>
            </a:pPr>
            <a:r>
              <a:rPr sz="2025" b="1">
                <a:solidFill>
                  <a:srgbClr val="2F2228"/>
                </a:solidFill>
                <a:latin typeface="Arial"/>
                <a:ea typeface="Arial"/>
                <a:cs typeface="Arial"/>
              </a:rPr>
              <a:t>1973</a:t>
            </a:r>
          </a:p>
        </p:txBody>
      </p:sp>
      <p:sp>
        <p:nvSpPr>
          <p:cNvPr id="19" name="">
            <a:extLst xmlns:a="http://schemas.openxmlformats.org/drawingml/2006/main">
              <a:ext uri="{FF2B5EF4-FFF2-40B4-BE49-F238E27FC236}">
                <a16:creationId xmlns:a16="http://schemas.microsoft.com/office/drawing/2014/main" id="{DA94A110-4E0C-4FCF-85D7-F8B1B2CA0058}"/>
              </a:ext>
            </a:extLst>
          </p:cNvPr>
          <p:cNvSpPr>
            <a:spLocks xmlns:a="http://schemas.openxmlformats.org/drawingml/2006/main" noGrp="1"/>
          </p:cNvSpPr>
          <p:nvPr/>
        </p:nvSpPr>
        <p:spPr>
          <a:xfrm xmlns:a="http://schemas.openxmlformats.org/drawingml/2006/main">
            <a:off x="615315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624753"/>
                </a:solidFill>
                <a:latin typeface="Arial"/>
                <a:ea typeface="Arial"/>
                <a:cs typeface="Arial"/>
              </a:defRPr>
            </a:defPPr>
          </a:lstStyle>
          <a:p xmlns:a="http://schemas.openxmlformats.org/drawingml/2006/main">
            <a:pPr algn="r" rtl="1">
              <a:lnSpc>
                <a:spcPct val="100000"/>
              </a:lnSpc>
              <a:buNone/>
              <a:defRPr sz="1575" b="1" lang="he-IL" altLang="en-US">
                <a:solidFill>
                  <a:srgbClr val="624753"/>
                </a:solidFill>
                <a:latin typeface="Arial"/>
                <a:ea typeface="Arial"/>
                <a:cs typeface="Arial"/>
              </a:defRPr>
            </a:pPr>
            <a:r>
              <a:rPr sz="1575" b="1" lang="he-IL" altLang="en-US">
                <a:solidFill>
                  <a:srgbClr val="624753"/>
                </a:solidFill>
                <a:latin typeface="Arial"/>
                <a:ea typeface="Arial"/>
                <a:cs typeface="Arial"/>
              </a:rPr>
              <a:t>ג׳ון ת׳י</a:t>
            </a:r>
          </a:p>
        </p:txBody>
      </p:sp>
      <p:sp>
        <p:nvSpPr>
          <p:cNvPr id="20" name="">
            <a:extLst xmlns:a="http://schemas.openxmlformats.org/drawingml/2006/main">
              <a:ext uri="{FF2B5EF4-FFF2-40B4-BE49-F238E27FC236}">
                <a16:creationId xmlns:a16="http://schemas.microsoft.com/office/drawing/2014/main" id="{DA002B20-9B3D-4381-8716-8460A9B893EC}"/>
              </a:ext>
            </a:extLst>
          </p:cNvPr>
          <p:cNvSpPr>
            <a:spLocks xmlns:a="http://schemas.openxmlformats.org/drawingml/2006/main" noGrp="1"/>
          </p:cNvSpPr>
          <p:nvPr/>
        </p:nvSpPr>
        <p:spPr>
          <a:xfrm xmlns:a="http://schemas.openxmlformats.org/drawingml/2006/main">
            <a:off x="615315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2F2228"/>
                </a:solidFill>
                <a:latin typeface="Arial"/>
                <a:ea typeface="Arial"/>
                <a:cs typeface="Arial"/>
              </a:defRPr>
            </a:defPPr>
          </a:lstStyle>
          <a:p xmlns:a="http://schemas.openxmlformats.org/drawingml/2006/main">
            <a:pPr algn="r" rtl="1">
              <a:lnSpc>
                <a:spcPct val="100000"/>
              </a:lnSpc>
              <a:buNone/>
              <a:defRPr sz="1275" b="0" lang="he-IL" altLang="en-US">
                <a:solidFill>
                  <a:srgbClr val="2F2228"/>
                </a:solidFill>
                <a:latin typeface="Arial"/>
                <a:ea typeface="Arial"/>
                <a:cs typeface="Arial"/>
              </a:defRPr>
            </a:pPr>
            <a:r>
              <a:rPr sz="1275" b="0" lang="he-IL" altLang="en-US">
                <a:solidFill>
                  <a:srgbClr val="2F2228"/>
                </a:solidFill>
                <a:latin typeface="Arial"/>
                <a:ea typeface="Arial"/>
                <a:cs typeface="Arial"/>
              </a:rPr>
              <a:t>Touch for Health מנגיש את הרעיונות לקהל רחב</a:t>
            </a:r>
          </a:p>
        </p:txBody>
      </p:sp>
      <p:sp>
        <p:nvSpPr>
          <p:cNvPr id="21" name="">
            <a:extLst xmlns:a="http://schemas.openxmlformats.org/drawingml/2006/main">
              <a:ext uri="{FF2B5EF4-FFF2-40B4-BE49-F238E27FC236}">
                <a16:creationId xmlns:a16="http://schemas.microsoft.com/office/drawing/2014/main" id="{30D956B9-BD9B-40B3-88C0-6A30CDD5FE23}"/>
              </a:ext>
            </a:extLst>
          </p:cNvPr>
          <p:cNvSpPr>
            <a:spLocks xmlns:a="http://schemas.openxmlformats.org/drawingml/2006/main" noGrp="1"/>
          </p:cNvSpPr>
          <p:nvPr/>
        </p:nvSpPr>
        <p:spPr>
          <a:xfrm xmlns:a="http://schemas.openxmlformats.org/drawingml/2006/main">
            <a:off x="9086850" y="2857500"/>
            <a:ext cx="723900" cy="7239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DD2D22E-00B8-4A79-9574-B70FA61AEE8D}"/>
              </a:ext>
            </a:extLst>
          </p:cNvPr>
          <p:cNvSpPr>
            <a:spLocks xmlns:a="http://schemas.openxmlformats.org/drawingml/2006/main" noGrp="1"/>
          </p:cNvSpPr>
          <p:nvPr/>
        </p:nvSpPr>
        <p:spPr>
          <a:xfrm xmlns:a="http://schemas.openxmlformats.org/drawingml/2006/main">
            <a:off x="908685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A97D4C4C-1BE7-4FF3-8DA1-F62EF379BA26}"/>
              </a:ext>
            </a:extLst>
          </p:cNvPr>
          <p:cNvSpPr>
            <a:spLocks xmlns:a="http://schemas.openxmlformats.org/drawingml/2006/main" noGrp="1"/>
          </p:cNvSpPr>
          <p:nvPr/>
        </p:nvSpPr>
        <p:spPr>
          <a:xfrm xmlns:a="http://schemas.openxmlformats.org/drawingml/2006/main">
            <a:off x="891540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2025" b="1">
                <a:solidFill>
                  <a:srgbClr val="2F2228"/>
                </a:solidFill>
                <a:latin typeface="Arial"/>
                <a:ea typeface="Arial"/>
                <a:cs typeface="Arial"/>
              </a:defRPr>
            </a:defPPr>
          </a:lstStyle>
          <a:p xmlns:a="http://schemas.openxmlformats.org/drawingml/2006/main">
            <a:pPr algn="r" rtl="1">
              <a:lnSpc>
                <a:spcPct val="100000"/>
              </a:lnSpc>
              <a:buNone/>
              <a:defRPr sz="2025" b="1" lang="he-IL" altLang="en-US">
                <a:solidFill>
                  <a:srgbClr val="2F2228"/>
                </a:solidFill>
                <a:latin typeface="Arial"/>
                <a:ea typeface="Arial"/>
                <a:cs typeface="Arial"/>
              </a:defRPr>
            </a:pPr>
            <a:r>
              <a:rPr sz="2025" b="1" lang="he-IL" altLang="en-US">
                <a:solidFill>
                  <a:srgbClr val="2F2228"/>
                </a:solidFill>
                <a:latin typeface="Arial"/>
                <a:ea typeface="Arial"/>
                <a:cs typeface="Arial"/>
              </a:rPr>
              <a:t>שנות ה־80</a:t>
            </a:r>
          </a:p>
        </p:txBody>
      </p:sp>
      <p:sp>
        <p:nvSpPr>
          <p:cNvPr id="24" name="">
            <a:extLst xmlns:a="http://schemas.openxmlformats.org/drawingml/2006/main">
              <a:ext uri="{FF2B5EF4-FFF2-40B4-BE49-F238E27FC236}">
                <a16:creationId xmlns:a16="http://schemas.microsoft.com/office/drawing/2014/main" id="{A39EE88B-6E57-4C62-A9A5-B4DE4938B50D}"/>
              </a:ext>
            </a:extLst>
          </p:cNvPr>
          <p:cNvSpPr>
            <a:spLocks xmlns:a="http://schemas.openxmlformats.org/drawingml/2006/main" noGrp="1"/>
          </p:cNvSpPr>
          <p:nvPr/>
        </p:nvSpPr>
        <p:spPr>
          <a:xfrm xmlns:a="http://schemas.openxmlformats.org/drawingml/2006/main">
            <a:off x="880110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624753"/>
                </a:solidFill>
                <a:latin typeface="Arial"/>
                <a:ea typeface="Arial"/>
                <a:cs typeface="Arial"/>
              </a:defRPr>
            </a:defPPr>
          </a:lstStyle>
          <a:p xmlns:a="http://schemas.openxmlformats.org/drawingml/2006/main">
            <a:pPr algn="r" rtl="1">
              <a:lnSpc>
                <a:spcPct val="100000"/>
              </a:lnSpc>
              <a:buNone/>
              <a:defRPr sz="1575" b="1" lang="he-IL" altLang="en-US">
                <a:solidFill>
                  <a:srgbClr val="624753"/>
                </a:solidFill>
                <a:latin typeface="Arial"/>
                <a:ea typeface="Arial"/>
                <a:cs typeface="Arial"/>
              </a:defRPr>
            </a:pPr>
            <a:r>
              <a:rPr sz="1575" b="1" lang="he-IL" altLang="en-US">
                <a:solidFill>
                  <a:srgbClr val="624753"/>
                </a:solidFill>
                <a:latin typeface="Arial"/>
                <a:ea typeface="Arial"/>
                <a:cs typeface="Arial"/>
              </a:rPr>
              <a:t>הכיוון הרגשי</a:t>
            </a:r>
          </a:p>
        </p:txBody>
      </p:sp>
      <p:sp>
        <p:nvSpPr>
          <p:cNvPr id="25" name="">
            <a:extLst xmlns:a="http://schemas.openxmlformats.org/drawingml/2006/main">
              <a:ext uri="{FF2B5EF4-FFF2-40B4-BE49-F238E27FC236}">
                <a16:creationId xmlns:a16="http://schemas.microsoft.com/office/drawing/2014/main" id="{FF0C9E90-76EA-47DA-85AB-1484A130E67B}"/>
              </a:ext>
            </a:extLst>
          </p:cNvPr>
          <p:cNvSpPr>
            <a:spLocks xmlns:a="http://schemas.openxmlformats.org/drawingml/2006/main" noGrp="1"/>
          </p:cNvSpPr>
          <p:nvPr/>
        </p:nvSpPr>
        <p:spPr>
          <a:xfrm xmlns:a="http://schemas.openxmlformats.org/drawingml/2006/main">
            <a:off x="880110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2F2228"/>
                </a:solidFill>
                <a:latin typeface="Arial"/>
                <a:ea typeface="Arial"/>
                <a:cs typeface="Arial"/>
              </a:defRPr>
            </a:defPPr>
          </a:lstStyle>
          <a:p xmlns:a="http://schemas.openxmlformats.org/drawingml/2006/main">
            <a:pPr algn="r" rtl="1">
              <a:lnSpc>
                <a:spcPct val="100000"/>
              </a:lnSpc>
              <a:buNone/>
              <a:defRPr sz="1275" b="0" lang="he-IL" altLang="en-US">
                <a:solidFill>
                  <a:srgbClr val="2F2228"/>
                </a:solidFill>
                <a:latin typeface="Arial"/>
                <a:ea typeface="Arial"/>
                <a:cs typeface="Arial"/>
              </a:defRPr>
            </a:pPr>
            <a:r>
              <a:rPr sz="1275" b="0" lang="he-IL" altLang="en-US">
                <a:solidFill>
                  <a:srgbClr val="2F2228"/>
                </a:solidFill>
                <a:latin typeface="Arial"/>
                <a:ea typeface="Arial"/>
                <a:cs typeface="Arial"/>
              </a:rPr>
              <a:t>מתפתחות גישות שעוסקות בסטרס, רגשות, תפיסות ואמונות</a:t>
            </a:r>
          </a:p>
        </p:txBody>
      </p:sp>
      <p:sp>
        <p:nvSpPr>
          <p:cNvPr id="26" name="">
            <a:extLst xmlns:a="http://schemas.openxmlformats.org/drawingml/2006/main">
              <a:ext uri="{FF2B5EF4-FFF2-40B4-BE49-F238E27FC236}">
                <a16:creationId xmlns:a16="http://schemas.microsoft.com/office/drawing/2014/main" id="{18090FEB-4DD8-4FA3-9AC4-19CBF8DE4A95}"/>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575" b="1">
                <a:solidFill>
                  <a:srgbClr val="624753"/>
                </a:solidFill>
                <a:latin typeface="Arial"/>
                <a:ea typeface="Arial"/>
                <a:cs typeface="Arial"/>
              </a:defRPr>
            </a:defPPr>
          </a:lstStyle>
          <a:p xmlns:a="http://schemas.openxmlformats.org/drawingml/2006/main">
            <a:pPr algn="ctr" rtl="1">
              <a:lnSpc>
                <a:spcPct val="100000"/>
              </a:lnSpc>
              <a:buNone/>
              <a:defRPr sz="1575" b="1" lang="he-IL" altLang="en-US">
                <a:solidFill>
                  <a:srgbClr val="624753"/>
                </a:solidFill>
                <a:latin typeface="Arial"/>
                <a:ea typeface="Arial"/>
                <a:cs typeface="Arial"/>
              </a:defRPr>
            </a:pPr>
            <a:r>
              <a:rPr sz="1575" b="1" lang="he-IL" altLang="en-US">
                <a:solidFill>
                  <a:srgbClr val="624753"/>
                </a:solidFill>
                <a:latin typeface="Arial"/>
                <a:ea typeface="Arial"/>
                <a:cs typeface="Arial"/>
              </a:rPr>
              <a:t>השם ״קינסיולוגיה מעשית״ מתאר את הדרך שנבנתה מתוך השורשים האלה ומתוך ניסיון טיפולי אישי</a:t>
            </a:r>
          </a:p>
        </p:txBody>
      </p:sp>
      <p:sp>
        <p:nvSpPr>
          <p:cNvPr id="27" name="">
            <a:extLst xmlns:a="http://schemas.openxmlformats.org/drawingml/2006/main">
              <a:ext uri="{FF2B5EF4-FFF2-40B4-BE49-F238E27FC236}">
                <a16:creationId xmlns:a16="http://schemas.microsoft.com/office/drawing/2014/main" id="{9E640303-BD67-40AC-8497-159BA76B2385}"/>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49353E"/>
                </a:solidFill>
                <a:latin typeface="Arial"/>
                <a:ea typeface="Arial"/>
                <a:cs typeface="Arial"/>
              </a:defRPr>
            </a:defPPr>
          </a:lstStyle>
          <a:p xmlns:a="http://schemas.openxmlformats.org/drawingml/2006/main">
            <a:pPr algn="l" rtl="1">
              <a:lnSpc>
                <a:spcPct val="100000"/>
              </a:lnSpc>
              <a:buNone/>
              <a:defRPr sz="900" b="0" lang="he-IL" altLang="en-US">
                <a:solidFill>
                  <a:srgbClr val="49353E"/>
                </a:solidFill>
                <a:latin typeface="Arial"/>
                <a:ea typeface="Arial"/>
                <a:cs typeface="Arial"/>
              </a:defRPr>
            </a:pPr>
            <a:r>
              <a:rPr sz="900" b="0" lang="he-IL" altLang="en-US">
                <a:solidFill>
                  <a:srgbClr val="49353E"/>
                </a:solidFill>
                <a:latin typeface="Arial"/>
                <a:ea typeface="Arial"/>
                <a:cs typeface="Arial"/>
              </a:rPr>
              <a:t>גרסה מודרנית ושקטה</a:t>
            </a:r>
          </a:p>
        </p:txBody>
      </p:sp>
      <p:sp>
        <p:nvSpPr>
          <p:cNvPr id="28" name="">
            <a:extLst xmlns:a="http://schemas.openxmlformats.org/drawingml/2006/main">
              <a:ext uri="{FF2B5EF4-FFF2-40B4-BE49-F238E27FC236}">
                <a16:creationId xmlns:a16="http://schemas.microsoft.com/office/drawing/2014/main" id="{9405C512-ADC3-4089-ABCD-697CD0848CBF}"/>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49353E"/>
                </a:solidFill>
                <a:latin typeface="Arial"/>
                <a:ea typeface="Arial"/>
                <a:cs typeface="Arial"/>
              </a:defRPr>
            </a:defPPr>
          </a:lstStyle>
          <a:p xmlns:a="http://schemas.openxmlformats.org/drawingml/2006/main">
            <a:pPr algn="r">
              <a:lnSpc>
                <a:spcPct val="100000"/>
              </a:lnSpc>
              <a:buNone/>
              <a:defRPr sz="975" b="0">
                <a:solidFill>
                  <a:srgbClr val="49353E"/>
                </a:solidFill>
                <a:latin typeface="Arial"/>
                <a:ea typeface="Arial"/>
                <a:cs typeface="Arial"/>
              </a:defRPr>
            </a:pPr>
            <a:r>
              <a:rPr sz="975" b="0">
                <a:solidFill>
                  <a:srgbClr val="49353E"/>
                </a:solidFill>
                <a:latin typeface="Arial"/>
                <a:ea typeface="Arial"/>
                <a:cs typeface="Arial"/>
              </a:rPr>
              <a:t>03</a:t>
            </a:r>
          </a:p>
        </p:txBody>
      </p:sp>
    </p:spTree>
    <p:extLst>
      <p:ext uri="{BB962C8B-B14F-4D97-AF65-F5344CB8AC3E}">
        <p14:creationId xmlns:p14="http://schemas.microsoft.com/office/powerpoint/2010/main" val="711521675"/>
      </p:ext>
    </p:extLst>
  </p:cSld>
</p:sld>
</file>

<file path=ppt/slides/slide4.xml><?xml version="1.0" encoding="utf-8"?>
<p:sld xmlns:p="http://schemas.openxmlformats.org/presentationml/2006/main">
  <p:cSld>
    <p:bg>
      <p:bgPr>
        <a:solidFill xmlns:a="http://schemas.openxmlformats.org/drawingml/2006/main">
          <a:srgbClr val="F4EC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AB7F3E3-AAF7-4DF0-8AF3-2A5B7F5121F1}"/>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8A4F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232634-E3A7-40E9-A0EB-0C679CC63D20}"/>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42261D"/>
                </a:solidFill>
                <a:latin typeface="Arial"/>
                <a:ea typeface="Arial"/>
                <a:cs typeface="Arial"/>
              </a:defRPr>
            </a:defPPr>
          </a:lstStyle>
          <a:p xmlns:a="http://schemas.openxmlformats.org/drawingml/2006/main">
            <a:pPr algn="r" rtl="1">
              <a:lnSpc>
                <a:spcPct val="100000"/>
              </a:lnSpc>
              <a:buNone/>
              <a:defRPr sz="2400" b="1" lang="he-IL" altLang="en-US">
                <a:solidFill>
                  <a:srgbClr val="42261D"/>
                </a:solidFill>
                <a:latin typeface="Arial"/>
                <a:ea typeface="Arial"/>
                <a:cs typeface="Arial"/>
              </a:defRPr>
            </a:pPr>
            <a:r>
              <a:rPr sz="2400" b="1" lang="he-IL" altLang="en-US">
                <a:solidFill>
                  <a:srgbClr val="42261D"/>
                </a:solidFill>
                <a:latin typeface="Arial"/>
                <a:ea typeface="Arial"/>
                <a:cs typeface="Arial"/>
              </a:rPr>
              <a:t>הדרך האישית שלי</a:t>
            </a:r>
          </a:p>
        </p:txBody>
      </p:sp>
      <p:sp>
        <p:nvSpPr>
          <p:cNvPr id="3" name="">
            <a:extLst xmlns:a="http://schemas.openxmlformats.org/drawingml/2006/main">
              <a:ext uri="{FF2B5EF4-FFF2-40B4-BE49-F238E27FC236}">
                <a16:creationId xmlns:a16="http://schemas.microsoft.com/office/drawing/2014/main" id="{EAB95806-925C-416E-A969-EEB11FD0132F}"/>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673B2D"/>
                </a:solidFill>
                <a:latin typeface="Arial"/>
                <a:ea typeface="Arial"/>
                <a:cs typeface="Arial"/>
              </a:defRPr>
            </a:defPPr>
          </a:lstStyle>
          <a:p xmlns:a="http://schemas.openxmlformats.org/drawingml/2006/main">
            <a:pPr algn="r" rtl="1">
              <a:lnSpc>
                <a:spcPct val="100000"/>
              </a:lnSpc>
              <a:buNone/>
              <a:defRPr sz="1500" b="0" lang="he-IL" altLang="en-US">
                <a:solidFill>
                  <a:srgbClr val="673B2D"/>
                </a:solidFill>
                <a:latin typeface="Arial"/>
                <a:ea typeface="Arial"/>
                <a:cs typeface="Arial"/>
              </a:defRPr>
            </a:pPr>
            <a:r>
              <a:rPr sz="1500" b="0" lang="he-IL" altLang="en-US">
                <a:solidFill>
                  <a:srgbClr val="673B2D"/>
                </a:solidFill>
                <a:latin typeface="Arial"/>
                <a:ea typeface="Arial"/>
                <a:cs typeface="Arial"/>
              </a:rPr>
              <a:t>קינסיולוגיה מעשית כשפה שנבנית במפגש עם אנשים</a:t>
            </a:r>
          </a:p>
        </p:txBody>
      </p:sp>
      <p:sp>
        <p:nvSpPr>
          <p:cNvPr id="4" name="">
            <a:extLst xmlns:a="http://schemas.openxmlformats.org/drawingml/2006/main">
              <a:ext uri="{FF2B5EF4-FFF2-40B4-BE49-F238E27FC236}">
                <a16:creationId xmlns:a16="http://schemas.microsoft.com/office/drawing/2014/main" id="{4F7CA44A-F348-462E-B616-498637EB1284}"/>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7B7AD"/>
            </a:solidFill>
            <a:prstDash val="solid"/>
          </a:ln>
        </p:spPr>
      </p:sp>
      <p:sp>
        <p:nvSpPr>
          <p:cNvPr id="5" name="">
            <a:extLst xmlns:a="http://schemas.openxmlformats.org/drawingml/2006/main">
              <a:ext uri="{FF2B5EF4-FFF2-40B4-BE49-F238E27FC236}">
                <a16:creationId xmlns:a16="http://schemas.microsoft.com/office/drawing/2014/main" id="{5F9419B5-57B0-4CF8-B09C-AC7C8D2CC55B}"/>
              </a:ext>
            </a:extLst>
          </p:cNvPr>
          <p:cNvSpPr>
            <a:spLocks xmlns:a="http://schemas.openxmlformats.org/drawingml/2006/main" noGrp="1"/>
          </p:cNvSpPr>
          <p:nvPr/>
        </p:nvSpPr>
        <p:spPr>
          <a:xfrm xmlns:a="http://schemas.openxmlformats.org/drawingml/2006/main">
            <a:off x="762000" y="1809750"/>
            <a:ext cx="4381500" cy="3524250"/>
          </a:xfrm>
          <a:prstGeom xmlns:a="http://schemas.openxmlformats.org/drawingml/2006/main" prst="rect">
            <a:avLst/>
          </a:prstGeom>
          <a:solidFill xmlns:a="http://schemas.openxmlformats.org/drawingml/2006/main">
            <a:srgbClr val="8A4F3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24529FE-3400-499F-995F-C0669FF3533F}"/>
              </a:ext>
            </a:extLst>
          </p:cNvPr>
          <p:cNvSpPr>
            <a:spLocks xmlns:a="http://schemas.openxmlformats.org/drawingml/2006/main" noGrp="1"/>
          </p:cNvSpPr>
          <p:nvPr/>
        </p:nvSpPr>
        <p:spPr>
          <a:xfrm xmlns:a="http://schemas.openxmlformats.org/drawingml/2006/main">
            <a:off x="1238250" y="23336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6422"/>
          </a:bodyPr>
          <a:lstStyle xmlns:a="http://schemas.openxmlformats.org/drawingml/2006/main">
            <a:defPPr algn="ctr" rtl="1">
              <a:defRPr sz="2550" b="1">
                <a:solidFill>
                  <a:srgbClr val="FFFFFF"/>
                </a:solidFill>
                <a:latin typeface="Arial"/>
                <a:ea typeface="Arial"/>
                <a:cs typeface="Arial"/>
              </a:defRPr>
            </a:defPPr>
          </a:lstStyle>
          <a:p xmlns:a="http://schemas.openxmlformats.org/drawingml/2006/main">
            <a:pPr algn="ctr" rtl="1">
              <a:lnSpc>
                <a:spcPct val="100000"/>
              </a:lnSpc>
              <a:buNone/>
              <a:defRPr sz="2550" b="1" lang="he-IL" altLang="en-US">
                <a:solidFill>
                  <a:srgbClr val="FFFFFF"/>
                </a:solidFill>
                <a:latin typeface="Arial"/>
                <a:ea typeface="Arial"/>
                <a:cs typeface="Arial"/>
              </a:defRPr>
            </a:pPr>
            <a:r>
              <a:rPr sz="2550" b="1" lang="he-IL" altLang="en-US">
                <a:solidFill>
                  <a:srgbClr val="FFFFFF"/>
                </a:solidFill>
                <a:latin typeface="Arial"/>
                <a:ea typeface="Arial"/>
                <a:cs typeface="Arial"/>
              </a:rPr>
              <a:t>כ־18 שנים של עבודה טיפולית</a:t>
            </a:r>
          </a:p>
        </p:txBody>
      </p:sp>
      <p:sp>
        <p:nvSpPr>
          <p:cNvPr id="7" name="">
            <a:extLst xmlns:a="http://schemas.openxmlformats.org/drawingml/2006/main">
              <a:ext uri="{FF2B5EF4-FFF2-40B4-BE49-F238E27FC236}">
                <a16:creationId xmlns:a16="http://schemas.microsoft.com/office/drawing/2014/main" id="{3C091F0D-5663-4CBB-9C55-9EE081FEE565}"/>
              </a:ext>
            </a:extLst>
          </p:cNvPr>
          <p:cNvSpPr>
            <a:spLocks xmlns:a="http://schemas.openxmlformats.org/drawingml/2006/main" noGrp="1"/>
          </p:cNvSpPr>
          <p:nvPr/>
        </p:nvSpPr>
        <p:spPr>
          <a:xfrm xmlns:a="http://schemas.openxmlformats.org/drawingml/2006/main">
            <a:off x="1285875" y="32385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00" b="0">
                <a:solidFill>
                  <a:srgbClr val="F6F0E6"/>
                </a:solidFill>
                <a:latin typeface="Arial"/>
                <a:ea typeface="Arial"/>
                <a:cs typeface="Arial"/>
              </a:defRPr>
            </a:defPPr>
          </a:lstStyle>
          <a:p xmlns:a="http://schemas.openxmlformats.org/drawingml/2006/main">
            <a:pPr algn="ctr" rtl="1">
              <a:lnSpc>
                <a:spcPct val="120000"/>
              </a:lnSpc>
              <a:buNone/>
              <a:defRPr sz="1800" b="0" lang="he-IL" altLang="en-US">
                <a:solidFill>
                  <a:srgbClr val="F6F0E6"/>
                </a:solidFill>
                <a:latin typeface="Arial"/>
                <a:ea typeface="Arial"/>
                <a:cs typeface="Arial"/>
              </a:defRPr>
            </a:pPr>
            <a:r>
              <a:rPr sz="1800" b="0" lang="he-IL" altLang="en-US">
                <a:solidFill>
                  <a:srgbClr val="F6F0E6"/>
                </a:solidFill>
                <a:latin typeface="Arial"/>
                <a:ea typeface="Arial"/>
                <a:cs typeface="Arial"/>
              </a:rPr>
              <a:t>לימוד פרטי</a:t>
            </a:r>
          </a:p>
          <a:p xmlns:a="http://schemas.openxmlformats.org/drawingml/2006/main">
            <a:pPr algn="ctr" rtl="1">
              <a:lnSpc>
                <a:spcPct val="120000"/>
              </a:lnSpc>
              <a:buNone/>
              <a:defRPr sz="1800" b="0" lang="he-IL" altLang="en-US">
                <a:solidFill>
                  <a:srgbClr val="F6F0E6"/>
                </a:solidFill>
                <a:latin typeface="Arial"/>
                <a:ea typeface="Arial"/>
                <a:cs typeface="Arial"/>
              </a:defRPr>
            </a:pPr>
            <a:r>
              <a:rPr sz="1800" b="0" lang="he-IL" altLang="en-US">
                <a:solidFill>
                  <a:srgbClr val="F6F0E6"/>
                </a:solidFill>
                <a:latin typeface="Arial"/>
                <a:ea typeface="Arial"/>
                <a:cs typeface="Arial"/>
              </a:rPr>
              <a:t>ניסיון מצטבר</a:t>
            </a:r>
          </a:p>
          <a:p xmlns:a="http://schemas.openxmlformats.org/drawingml/2006/main">
            <a:pPr algn="ctr" rtl="1">
              <a:lnSpc>
                <a:spcPct val="120000"/>
              </a:lnSpc>
              <a:buNone/>
              <a:defRPr sz="1800" b="0" lang="he-IL" altLang="en-US">
                <a:solidFill>
                  <a:srgbClr val="F6F0E6"/>
                </a:solidFill>
                <a:latin typeface="Arial"/>
                <a:ea typeface="Arial"/>
                <a:cs typeface="Arial"/>
              </a:defRPr>
            </a:pPr>
            <a:r>
              <a:rPr sz="1800" b="0" lang="he-IL" altLang="en-US">
                <a:solidFill>
                  <a:srgbClr val="F6F0E6"/>
                </a:solidFill>
                <a:latin typeface="Arial"/>
                <a:ea typeface="Arial"/>
                <a:cs typeface="Arial"/>
              </a:rPr>
              <a:t>שילוב כלים מעולמות שונים</a:t>
            </a:r>
          </a:p>
        </p:txBody>
      </p:sp>
      <p:sp>
        <p:nvSpPr>
          <p:cNvPr id="8" name="">
            <a:extLst xmlns:a="http://schemas.openxmlformats.org/drawingml/2006/main">
              <a:ext uri="{FF2B5EF4-FFF2-40B4-BE49-F238E27FC236}">
                <a16:creationId xmlns:a16="http://schemas.microsoft.com/office/drawing/2014/main" id="{B61FCA2E-83AC-4AF1-A30B-C6478FB76779}"/>
              </a:ext>
            </a:extLst>
          </p:cNvPr>
          <p:cNvSpPr>
            <a:spLocks xmlns:a="http://schemas.openxmlformats.org/drawingml/2006/main" noGrp="1"/>
          </p:cNvSpPr>
          <p:nvPr/>
        </p:nvSpPr>
        <p:spPr>
          <a:xfrm xmlns:a="http://schemas.openxmlformats.org/drawingml/2006/main">
            <a:off x="59055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2250" b="1">
                <a:solidFill>
                  <a:srgbClr val="42261D"/>
                </a:solidFill>
                <a:latin typeface="Arial"/>
                <a:ea typeface="Arial"/>
                <a:cs typeface="Arial"/>
              </a:defRPr>
            </a:defPPr>
          </a:lstStyle>
          <a:p xmlns:a="http://schemas.openxmlformats.org/drawingml/2006/main">
            <a:pPr algn="r" rtl="1">
              <a:lnSpc>
                <a:spcPct val="108000"/>
              </a:lnSpc>
              <a:buNone/>
              <a:defRPr sz="2250" b="1" lang="he-IL" altLang="en-US">
                <a:solidFill>
                  <a:srgbClr val="42261D"/>
                </a:solidFill>
                <a:latin typeface="Arial"/>
                <a:ea typeface="Arial"/>
                <a:cs typeface="Arial"/>
              </a:defRPr>
            </a:pPr>
            <a:r>
              <a:rPr sz="2250" b="1" lang="he-IL" altLang="en-US">
                <a:solidFill>
                  <a:srgbClr val="42261D"/>
                </a:solidFill>
                <a:latin typeface="Arial"/>
                <a:ea typeface="Arial"/>
                <a:cs typeface="Arial"/>
              </a:rPr>
              <a:t>״למדתי קינסיולוגיה באופן פרטי. עם השנים, מתוך המפגש עם מטופלים ומתוך שילוב של כלים, התפתחה אצלי דרך עבודה שאני קוראת לה קינסיולוגיה מעשית.״</a:t>
            </a:r>
          </a:p>
        </p:txBody>
      </p:sp>
      <p:sp>
        <p:nvSpPr>
          <p:cNvPr id="9" name="">
            <a:extLst xmlns:a="http://schemas.openxmlformats.org/drawingml/2006/main">
              <a:ext uri="{FF2B5EF4-FFF2-40B4-BE49-F238E27FC236}">
                <a16:creationId xmlns:a16="http://schemas.microsoft.com/office/drawing/2014/main" id="{8449407C-D7FD-4255-9643-74768F332EE5}"/>
              </a:ext>
            </a:extLst>
          </p:cNvPr>
          <p:cNvSpPr>
            <a:spLocks xmlns:a="http://schemas.openxmlformats.org/drawingml/2006/main" noGrp="1"/>
          </p:cNvSpPr>
          <p:nvPr/>
        </p:nvSpPr>
        <p:spPr>
          <a:xfrm xmlns:a="http://schemas.openxmlformats.org/drawingml/2006/main">
            <a:off x="5953125" y="48577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8A4F3C"/>
                </a:solidFill>
                <a:latin typeface="Arial"/>
                <a:ea typeface="Arial"/>
                <a:cs typeface="Arial"/>
              </a:defRPr>
            </a:defPPr>
          </a:lstStyle>
          <a:p xmlns:a="http://schemas.openxmlformats.org/drawingml/2006/main">
            <a:pPr algn="r" rtl="1">
              <a:lnSpc>
                <a:spcPct val="100000"/>
              </a:lnSpc>
              <a:buNone/>
              <a:defRPr sz="1500" b="0" lang="he-IL" altLang="en-US">
                <a:solidFill>
                  <a:srgbClr val="8A4F3C"/>
                </a:solidFill>
                <a:latin typeface="Arial"/>
                <a:ea typeface="Arial"/>
                <a:cs typeface="Arial"/>
              </a:defRPr>
            </a:pPr>
            <a:r>
              <a:rPr sz="1500" b="0" lang="he-IL" altLang="en-US">
                <a:solidFill>
                  <a:srgbClr val="8A4F3C"/>
                </a:solidFill>
                <a:latin typeface="Arial"/>
                <a:ea typeface="Arial"/>
                <a:cs typeface="Arial"/>
              </a:rPr>
              <a:t>הסמכות מגיעה מן הכנות, מן הניסיון ומן היכולת להסביר בבירור מה אני עושה</a:t>
            </a:r>
          </a:p>
        </p:txBody>
      </p:sp>
      <p:sp>
        <p:nvSpPr>
          <p:cNvPr id="10" name="">
            <a:extLst xmlns:a="http://schemas.openxmlformats.org/drawingml/2006/main">
              <a:ext uri="{FF2B5EF4-FFF2-40B4-BE49-F238E27FC236}">
                <a16:creationId xmlns:a16="http://schemas.microsoft.com/office/drawing/2014/main" id="{4035F6E2-4BB3-4DF2-A090-ED69E190F93D}"/>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673B2D"/>
                </a:solidFill>
                <a:latin typeface="Arial"/>
                <a:ea typeface="Arial"/>
                <a:cs typeface="Arial"/>
              </a:defRPr>
            </a:defPPr>
          </a:lstStyle>
          <a:p xmlns:a="http://schemas.openxmlformats.org/drawingml/2006/main">
            <a:pPr algn="l" rtl="1">
              <a:lnSpc>
                <a:spcPct val="100000"/>
              </a:lnSpc>
              <a:buNone/>
              <a:defRPr sz="900" b="0" lang="he-IL" altLang="en-US">
                <a:solidFill>
                  <a:srgbClr val="673B2D"/>
                </a:solidFill>
                <a:latin typeface="Arial"/>
                <a:ea typeface="Arial"/>
                <a:cs typeface="Arial"/>
              </a:defRPr>
            </a:pPr>
            <a:r>
              <a:rPr sz="900" b="0" lang="he-IL" altLang="en-US">
                <a:solidFill>
                  <a:srgbClr val="673B2D"/>
                </a:solidFill>
                <a:latin typeface="Arial"/>
                <a:ea typeface="Arial"/>
                <a:cs typeface="Arial"/>
              </a:rPr>
              <a:t>גרסה מודרנית ושקטה</a:t>
            </a:r>
          </a:p>
        </p:txBody>
      </p:sp>
      <p:sp>
        <p:nvSpPr>
          <p:cNvPr id="11" name="">
            <a:extLst xmlns:a="http://schemas.openxmlformats.org/drawingml/2006/main">
              <a:ext uri="{FF2B5EF4-FFF2-40B4-BE49-F238E27FC236}">
                <a16:creationId xmlns:a16="http://schemas.microsoft.com/office/drawing/2014/main" id="{FE9BD219-25B7-41A9-8C1A-9E2C57D0888B}"/>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73B2D"/>
                </a:solidFill>
                <a:latin typeface="Arial"/>
                <a:ea typeface="Arial"/>
                <a:cs typeface="Arial"/>
              </a:defRPr>
            </a:defPPr>
          </a:lstStyle>
          <a:p xmlns:a="http://schemas.openxmlformats.org/drawingml/2006/main">
            <a:pPr algn="r">
              <a:lnSpc>
                <a:spcPct val="100000"/>
              </a:lnSpc>
              <a:buNone/>
              <a:defRPr sz="975" b="0">
                <a:solidFill>
                  <a:srgbClr val="673B2D"/>
                </a:solidFill>
                <a:latin typeface="Arial"/>
                <a:ea typeface="Arial"/>
                <a:cs typeface="Arial"/>
              </a:defRPr>
            </a:pPr>
            <a:r>
              <a:rPr sz="975" b="0">
                <a:solidFill>
                  <a:srgbClr val="673B2D"/>
                </a:solidFill>
                <a:latin typeface="Arial"/>
                <a:ea typeface="Arial"/>
                <a:cs typeface="Arial"/>
              </a:rPr>
              <a:t>04</a:t>
            </a:r>
          </a:p>
        </p:txBody>
      </p:sp>
    </p:spTree>
    <p:extLst>
      <p:ext uri="{BB962C8B-B14F-4D97-AF65-F5344CB8AC3E}">
        <p14:creationId xmlns:p14="http://schemas.microsoft.com/office/powerpoint/2010/main" val="1623222996"/>
      </p:ext>
    </p:extLst>
  </p:cSld>
</p:sld>
</file>

<file path=ppt/slides/slide5.xml><?xml version="1.0" encoding="utf-8"?>
<p:sld xmlns:p="http://schemas.openxmlformats.org/presentationml/2006/main">
  <p:cSld>
    <p:bg>
      <p:bgPr>
        <a:solidFill xmlns:a="http://schemas.openxmlformats.org/drawingml/2006/main">
          <a:srgbClr val="F6EFE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4C10648-B4A6-464A-9246-92EB9B20DAE5}"/>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99644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73620F8-2C6D-4FBD-A8A3-21A8998F3C8C}"/>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4A3021"/>
                </a:solidFill>
                <a:latin typeface="Arial"/>
                <a:ea typeface="Arial"/>
                <a:cs typeface="Arial"/>
              </a:defRPr>
            </a:defPPr>
          </a:lstStyle>
          <a:p xmlns:a="http://schemas.openxmlformats.org/drawingml/2006/main">
            <a:pPr algn="r" rtl="1">
              <a:lnSpc>
                <a:spcPct val="100000"/>
              </a:lnSpc>
              <a:buNone/>
              <a:defRPr sz="2400" b="1" lang="he-IL" altLang="en-US">
                <a:solidFill>
                  <a:srgbClr val="4A3021"/>
                </a:solidFill>
                <a:latin typeface="Arial"/>
                <a:ea typeface="Arial"/>
                <a:cs typeface="Arial"/>
              </a:defRPr>
            </a:pPr>
            <a:r>
              <a:rPr sz="2400" b="1" lang="he-IL" altLang="en-US">
                <a:solidFill>
                  <a:srgbClr val="4A3021"/>
                </a:solidFill>
                <a:latin typeface="Arial"/>
                <a:ea typeface="Arial"/>
                <a:cs typeface="Arial"/>
              </a:rPr>
              <a:t>חמשת האלמנטים ברפואה הסינית</a:t>
            </a:r>
          </a:p>
        </p:txBody>
      </p:sp>
      <p:sp>
        <p:nvSpPr>
          <p:cNvPr id="3" name="">
            <a:extLst xmlns:a="http://schemas.openxmlformats.org/drawingml/2006/main">
              <a:ext uri="{FF2B5EF4-FFF2-40B4-BE49-F238E27FC236}">
                <a16:creationId xmlns:a16="http://schemas.microsoft.com/office/drawing/2014/main" id="{59C96CB9-9A6D-4A0C-AF3C-06F9F022306B}"/>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724A33"/>
                </a:solidFill>
                <a:latin typeface="Arial"/>
                <a:ea typeface="Arial"/>
                <a:cs typeface="Arial"/>
              </a:defRPr>
            </a:defPPr>
          </a:lstStyle>
          <a:p xmlns:a="http://schemas.openxmlformats.org/drawingml/2006/main">
            <a:pPr algn="r" rtl="1">
              <a:lnSpc>
                <a:spcPct val="100000"/>
              </a:lnSpc>
              <a:buNone/>
              <a:defRPr sz="1500" b="0" lang="he-IL" altLang="en-US">
                <a:solidFill>
                  <a:srgbClr val="724A33"/>
                </a:solidFill>
                <a:latin typeface="Arial"/>
                <a:ea typeface="Arial"/>
                <a:cs typeface="Arial"/>
              </a:defRPr>
            </a:pPr>
            <a:r>
              <a:rPr sz="1500" b="0" lang="he-IL" altLang="en-US">
                <a:solidFill>
                  <a:srgbClr val="724A33"/>
                </a:solidFill>
                <a:latin typeface="Arial"/>
                <a:ea typeface="Arial"/>
                <a:cs typeface="Arial"/>
              </a:rPr>
              <a:t>מודל מסורתי שמתאר תנועה, קשרים ומחזוריות</a:t>
            </a:r>
          </a:p>
        </p:txBody>
      </p:sp>
      <p:sp>
        <p:nvSpPr>
          <p:cNvPr id="4" name="">
            <a:extLst xmlns:a="http://schemas.openxmlformats.org/drawingml/2006/main">
              <a:ext uri="{FF2B5EF4-FFF2-40B4-BE49-F238E27FC236}">
                <a16:creationId xmlns:a16="http://schemas.microsoft.com/office/drawing/2014/main" id="{8B0E4289-5AE0-4B92-A6D1-2D63A3A44195}"/>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FC2B1"/>
            </a:solidFill>
            <a:prstDash val="solid"/>
          </a:ln>
        </p:spPr>
      </p:sp>
      <p:sp>
        <p:nvSpPr>
          <p:cNvPr id="5" name="">
            <a:extLst xmlns:a="http://schemas.openxmlformats.org/drawingml/2006/main">
              <a:ext uri="{FF2B5EF4-FFF2-40B4-BE49-F238E27FC236}">
                <a16:creationId xmlns:a16="http://schemas.microsoft.com/office/drawing/2014/main" id="{BED6D052-4544-4E79-B95C-99A51569A2F3}"/>
              </a:ext>
            </a:extLst>
          </p:cNvPr>
          <p:cNvSpPr>
            <a:spLocks xmlns:a="http://schemas.openxmlformats.org/drawingml/2006/main" noGrp="1"/>
          </p:cNvSpPr>
          <p:nvPr/>
        </p:nvSpPr>
        <p:spPr>
          <a:xfrm xmlns:a="http://schemas.openxmlformats.org/drawingml/2006/main">
            <a:off x="666750" y="2047875"/>
            <a:ext cx="1714500" cy="1714500"/>
          </a:xfrm>
          <a:prstGeom xmlns:a="http://schemas.openxmlformats.org/drawingml/2006/main" prst="ellipse">
            <a:avLst/>
          </a:prstGeom>
          <a:solidFill xmlns:a="http://schemas.openxmlformats.org/drawingml/2006/main">
            <a:srgbClr val="99644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B0689AF-2BC6-489F-9DCA-8BB479CDFC6C}"/>
              </a:ext>
            </a:extLst>
          </p:cNvPr>
          <p:cNvSpPr>
            <a:spLocks xmlns:a="http://schemas.openxmlformats.org/drawingml/2006/main" noGrp="1"/>
          </p:cNvSpPr>
          <p:nvPr/>
        </p:nvSpPr>
        <p:spPr>
          <a:xfrm xmlns:a="http://schemas.openxmlformats.org/drawingml/2006/main">
            <a:off x="762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C20D87A0-FE06-4F6D-B65B-75131203FB48}"/>
              </a:ext>
            </a:extLst>
          </p:cNvPr>
          <p:cNvSpPr>
            <a:spLocks xmlns:a="http://schemas.openxmlformats.org/drawingml/2006/main" noGrp="1"/>
          </p:cNvSpPr>
          <p:nvPr/>
        </p:nvSpPr>
        <p:spPr>
          <a:xfrm xmlns:a="http://schemas.openxmlformats.org/drawingml/2006/main">
            <a:off x="762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אביב</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צמיחה</a:t>
            </a:r>
          </a:p>
        </p:txBody>
      </p:sp>
      <p:sp>
        <p:nvSpPr>
          <p:cNvPr id="8" name="">
            <a:extLst xmlns:a="http://schemas.openxmlformats.org/drawingml/2006/main">
              <a:ext uri="{FF2B5EF4-FFF2-40B4-BE49-F238E27FC236}">
                <a16:creationId xmlns:a16="http://schemas.microsoft.com/office/drawing/2014/main" id="{32F476CF-DCC2-4AFF-90D7-E2AC9E502FCC}"/>
              </a:ext>
            </a:extLst>
          </p:cNvPr>
          <p:cNvSpPr>
            <a:spLocks xmlns:a="http://schemas.openxmlformats.org/drawingml/2006/main" noGrp="1"/>
          </p:cNvSpPr>
          <p:nvPr/>
        </p:nvSpPr>
        <p:spPr>
          <a:xfrm xmlns:a="http://schemas.openxmlformats.org/drawingml/2006/main">
            <a:off x="2952750" y="2047875"/>
            <a:ext cx="1714500" cy="1714500"/>
          </a:xfrm>
          <a:prstGeom xmlns:a="http://schemas.openxmlformats.org/drawingml/2006/main" prst="ellipse">
            <a:avLst/>
          </a:prstGeom>
          <a:solidFill xmlns:a="http://schemas.openxmlformats.org/drawingml/2006/main">
            <a:srgbClr val="99644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2A7343D-DFF9-46E6-8E8A-920D4653F198}"/>
              </a:ext>
            </a:extLst>
          </p:cNvPr>
          <p:cNvSpPr>
            <a:spLocks xmlns:a="http://schemas.openxmlformats.org/drawingml/2006/main" noGrp="1"/>
          </p:cNvSpPr>
          <p:nvPr/>
        </p:nvSpPr>
        <p:spPr>
          <a:xfrm xmlns:a="http://schemas.openxmlformats.org/drawingml/2006/main">
            <a:off x="3048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A5BCFF34-22AE-4A92-8889-AF9640F4E105}"/>
              </a:ext>
            </a:extLst>
          </p:cNvPr>
          <p:cNvSpPr>
            <a:spLocks xmlns:a="http://schemas.openxmlformats.org/drawingml/2006/main" noGrp="1"/>
          </p:cNvSpPr>
          <p:nvPr/>
        </p:nvSpPr>
        <p:spPr>
          <a:xfrm xmlns:a="http://schemas.openxmlformats.org/drawingml/2006/main">
            <a:off x="3048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קיץ</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חום</a:t>
            </a:r>
          </a:p>
        </p:txBody>
      </p:sp>
      <p:sp>
        <p:nvSpPr>
          <p:cNvPr id="11" name="">
            <a:extLst xmlns:a="http://schemas.openxmlformats.org/drawingml/2006/main">
              <a:ext uri="{FF2B5EF4-FFF2-40B4-BE49-F238E27FC236}">
                <a16:creationId xmlns:a16="http://schemas.microsoft.com/office/drawing/2014/main" id="{415168BC-DEE4-4313-8547-6EB39A33EA81}"/>
              </a:ext>
            </a:extLst>
          </p:cNvPr>
          <p:cNvSpPr>
            <a:spLocks xmlns:a="http://schemas.openxmlformats.org/drawingml/2006/main" noGrp="1"/>
          </p:cNvSpPr>
          <p:nvPr/>
        </p:nvSpPr>
        <p:spPr>
          <a:xfrm xmlns:a="http://schemas.openxmlformats.org/drawingml/2006/main">
            <a:off x="5238750" y="2047875"/>
            <a:ext cx="1714500" cy="1714500"/>
          </a:xfrm>
          <a:prstGeom xmlns:a="http://schemas.openxmlformats.org/drawingml/2006/main" prst="ellipse">
            <a:avLst/>
          </a:prstGeom>
          <a:solidFill xmlns:a="http://schemas.openxmlformats.org/drawingml/2006/main">
            <a:srgbClr val="99644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3891CB7-8665-4826-A04B-B5BCEA1A5003}"/>
              </a:ext>
            </a:extLst>
          </p:cNvPr>
          <p:cNvSpPr>
            <a:spLocks xmlns:a="http://schemas.openxmlformats.org/drawingml/2006/main" noGrp="1"/>
          </p:cNvSpPr>
          <p:nvPr/>
        </p:nvSpPr>
        <p:spPr>
          <a:xfrm xmlns:a="http://schemas.openxmlformats.org/drawingml/2006/main">
            <a:off x="5334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288FE42A-695E-44AF-913D-DB215106AEB5}"/>
              </a:ext>
            </a:extLst>
          </p:cNvPr>
          <p:cNvSpPr>
            <a:spLocks xmlns:a="http://schemas.openxmlformats.org/drawingml/2006/main" noGrp="1"/>
          </p:cNvSpPr>
          <p:nvPr/>
        </p:nvSpPr>
        <p:spPr>
          <a:xfrm xmlns:a="http://schemas.openxmlformats.org/drawingml/2006/main">
            <a:off x="5334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מרכז</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הזנה</a:t>
            </a:r>
          </a:p>
        </p:txBody>
      </p:sp>
      <p:sp>
        <p:nvSpPr>
          <p:cNvPr id="14" name="">
            <a:extLst xmlns:a="http://schemas.openxmlformats.org/drawingml/2006/main">
              <a:ext uri="{FF2B5EF4-FFF2-40B4-BE49-F238E27FC236}">
                <a16:creationId xmlns:a16="http://schemas.microsoft.com/office/drawing/2014/main" id="{A6277423-000B-4A86-9F3A-3E1787982E99}"/>
              </a:ext>
            </a:extLst>
          </p:cNvPr>
          <p:cNvSpPr>
            <a:spLocks xmlns:a="http://schemas.openxmlformats.org/drawingml/2006/main" noGrp="1"/>
          </p:cNvSpPr>
          <p:nvPr/>
        </p:nvSpPr>
        <p:spPr>
          <a:xfrm xmlns:a="http://schemas.openxmlformats.org/drawingml/2006/main">
            <a:off x="7524750" y="2047875"/>
            <a:ext cx="1714500" cy="1714500"/>
          </a:xfrm>
          <a:prstGeom xmlns:a="http://schemas.openxmlformats.org/drawingml/2006/main" prst="ellipse">
            <a:avLst/>
          </a:prstGeom>
          <a:solidFill xmlns:a="http://schemas.openxmlformats.org/drawingml/2006/main">
            <a:srgbClr val="99644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220465F-8673-4BEB-820D-CBC537910C09}"/>
              </a:ext>
            </a:extLst>
          </p:cNvPr>
          <p:cNvSpPr>
            <a:spLocks xmlns:a="http://schemas.openxmlformats.org/drawingml/2006/main" noGrp="1"/>
          </p:cNvSpPr>
          <p:nvPr/>
        </p:nvSpPr>
        <p:spPr>
          <a:xfrm xmlns:a="http://schemas.openxmlformats.org/drawingml/2006/main">
            <a:off x="7620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1EDF8869-29F6-4AEB-A014-8C10CF15FFD2}"/>
              </a:ext>
            </a:extLst>
          </p:cNvPr>
          <p:cNvSpPr>
            <a:spLocks xmlns:a="http://schemas.openxmlformats.org/drawingml/2006/main" noGrp="1"/>
          </p:cNvSpPr>
          <p:nvPr/>
        </p:nvSpPr>
        <p:spPr>
          <a:xfrm xmlns:a="http://schemas.openxmlformats.org/drawingml/2006/main">
            <a:off x="7620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סתיו</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סדר</a:t>
            </a:r>
          </a:p>
        </p:txBody>
      </p:sp>
      <p:sp>
        <p:nvSpPr>
          <p:cNvPr id="17" name="">
            <a:extLst xmlns:a="http://schemas.openxmlformats.org/drawingml/2006/main">
              <a:ext uri="{FF2B5EF4-FFF2-40B4-BE49-F238E27FC236}">
                <a16:creationId xmlns:a16="http://schemas.microsoft.com/office/drawing/2014/main" id="{D302CFF4-A8E2-4501-A7EA-5F9A71A0AD55}"/>
              </a:ext>
            </a:extLst>
          </p:cNvPr>
          <p:cNvSpPr>
            <a:spLocks xmlns:a="http://schemas.openxmlformats.org/drawingml/2006/main" noGrp="1"/>
          </p:cNvSpPr>
          <p:nvPr/>
        </p:nvSpPr>
        <p:spPr>
          <a:xfrm xmlns:a="http://schemas.openxmlformats.org/drawingml/2006/main">
            <a:off x="9810750" y="2047875"/>
            <a:ext cx="1714500" cy="1714500"/>
          </a:xfrm>
          <a:prstGeom xmlns:a="http://schemas.openxmlformats.org/drawingml/2006/main" prst="ellipse">
            <a:avLst/>
          </a:prstGeom>
          <a:solidFill xmlns:a="http://schemas.openxmlformats.org/drawingml/2006/main">
            <a:srgbClr val="99644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4C29455-2328-4945-856C-101D576B3AA9}"/>
              </a:ext>
            </a:extLst>
          </p:cNvPr>
          <p:cNvSpPr>
            <a:spLocks xmlns:a="http://schemas.openxmlformats.org/drawingml/2006/main" noGrp="1"/>
          </p:cNvSpPr>
          <p:nvPr/>
        </p:nvSpPr>
        <p:spPr>
          <a:xfrm xmlns:a="http://schemas.openxmlformats.org/drawingml/2006/main">
            <a:off x="9906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72FBC752-364E-4DEA-8621-8C288198BAB0}"/>
              </a:ext>
            </a:extLst>
          </p:cNvPr>
          <p:cNvSpPr>
            <a:spLocks xmlns:a="http://schemas.openxmlformats.org/drawingml/2006/main" noGrp="1"/>
          </p:cNvSpPr>
          <p:nvPr/>
        </p:nvSpPr>
        <p:spPr>
          <a:xfrm xmlns:a="http://schemas.openxmlformats.org/drawingml/2006/main">
            <a:off x="9906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חורף</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שימור</a:t>
            </a:r>
          </a:p>
        </p:txBody>
      </p:sp>
      <p:sp>
        <p:nvSpPr>
          <p:cNvPr id="20" name="">
            <a:extLst xmlns:a="http://schemas.openxmlformats.org/drawingml/2006/main">
              <a:ext uri="{FF2B5EF4-FFF2-40B4-BE49-F238E27FC236}">
                <a16:creationId xmlns:a16="http://schemas.microsoft.com/office/drawing/2014/main" id="{DD4F1619-8457-480E-868B-36B6E00EB83B}"/>
              </a:ext>
            </a:extLst>
          </p:cNvPr>
          <p:cNvSpPr>
            <a:spLocks xmlns:a="http://schemas.openxmlformats.org/drawingml/2006/main" noGrp="1"/>
          </p:cNvSpPr>
          <p:nvPr/>
        </p:nvSpPr>
        <p:spPr>
          <a:xfrm xmlns:a="http://schemas.openxmlformats.org/drawingml/2006/main">
            <a:off x="1428750" y="4286250"/>
            <a:ext cx="9334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75" b="0">
                <a:solidFill>
                  <a:srgbClr val="4A3021"/>
                </a:solidFill>
                <a:latin typeface="Arial"/>
                <a:ea typeface="Arial"/>
                <a:cs typeface="Arial"/>
              </a:defRPr>
            </a:defPPr>
          </a:lstStyle>
          <a:p xmlns:a="http://schemas.openxmlformats.org/drawingml/2006/main">
            <a:pPr algn="ctr" rtl="1">
              <a:lnSpc>
                <a:spcPct val="108000"/>
              </a:lnSpc>
              <a:buNone/>
              <a:defRPr sz="1875" b="0" lang="he-IL" altLang="en-US">
                <a:solidFill>
                  <a:srgbClr val="4A3021"/>
                </a:solidFill>
                <a:latin typeface="Arial"/>
                <a:ea typeface="Arial"/>
                <a:cs typeface="Arial"/>
              </a:defRPr>
            </a:pPr>
            <a:r>
              <a:rPr sz="1875" b="0" lang="he-IL" altLang="en-US">
                <a:solidFill>
                  <a:srgbClr val="4A3021"/>
                </a:solidFill>
                <a:latin typeface="Arial"/>
                <a:ea typeface="Arial"/>
                <a:cs typeface="Arial"/>
              </a:rPr>
              <a:t>במסורת הסינית כל אלמנט קשור גם למערכות גוף, רגשות, עונות ואיכויות תנועה. הערך של המודל נמצא בקשרים בין האלמנטים, ולא בתווית נפרדת לכל אחד.</a:t>
            </a:r>
          </a:p>
        </p:txBody>
      </p:sp>
      <p:sp>
        <p:nvSpPr>
          <p:cNvPr id="21" name="">
            <a:extLst xmlns:a="http://schemas.openxmlformats.org/drawingml/2006/main">
              <a:ext uri="{FF2B5EF4-FFF2-40B4-BE49-F238E27FC236}">
                <a16:creationId xmlns:a16="http://schemas.microsoft.com/office/drawing/2014/main" id="{F388A7AE-AE05-4C8D-8280-D997FCF5B2CE}"/>
              </a:ext>
            </a:extLst>
          </p:cNvPr>
          <p:cNvSpPr>
            <a:spLocks xmlns:a="http://schemas.openxmlformats.org/drawingml/2006/main" noGrp="1"/>
          </p:cNvSpPr>
          <p:nvPr/>
        </p:nvSpPr>
        <p:spPr>
          <a:xfrm xmlns:a="http://schemas.openxmlformats.org/drawingml/2006/main">
            <a:off x="1619250" y="57150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050" b="0">
                <a:solidFill>
                  <a:srgbClr val="724A33"/>
                </a:solidFill>
                <a:latin typeface="Arial"/>
                <a:ea typeface="Arial"/>
                <a:cs typeface="Arial"/>
              </a:defRPr>
            </a:defPPr>
          </a:lstStyle>
          <a:p xmlns:a="http://schemas.openxmlformats.org/drawingml/2006/main">
            <a:pPr algn="ctr" rtl="1">
              <a:lnSpc>
                <a:spcPct val="100000"/>
              </a:lnSpc>
              <a:buNone/>
              <a:defRPr sz="1050" b="0" lang="he-IL" altLang="en-US">
                <a:solidFill>
                  <a:srgbClr val="724A33"/>
                </a:solidFill>
                <a:latin typeface="Arial"/>
                <a:ea typeface="Arial"/>
                <a:cs typeface="Arial"/>
              </a:defRPr>
            </a:pPr>
            <a:r>
              <a:rPr sz="1050" b="0" lang="he-IL" altLang="en-US">
                <a:solidFill>
                  <a:srgbClr val="724A33"/>
                </a:solidFill>
                <a:latin typeface="Arial"/>
                <a:ea typeface="Arial"/>
                <a:cs typeface="Arial"/>
              </a:rPr>
              <a:t>האלמנטים מוצגים כאן כמושגים מסורתיים ולא כקטגוריות של הרפואה המודרנית</a:t>
            </a:r>
          </a:p>
        </p:txBody>
      </p:sp>
      <p:sp>
        <p:nvSpPr>
          <p:cNvPr id="22" name="">
            <a:extLst xmlns:a="http://schemas.openxmlformats.org/drawingml/2006/main">
              <a:ext uri="{FF2B5EF4-FFF2-40B4-BE49-F238E27FC236}">
                <a16:creationId xmlns:a16="http://schemas.microsoft.com/office/drawing/2014/main" id="{13D9A9D1-F95C-4974-B2C4-31D5C7286E6A}"/>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724A33"/>
                </a:solidFill>
                <a:latin typeface="Arial"/>
                <a:ea typeface="Arial"/>
                <a:cs typeface="Arial"/>
              </a:defRPr>
            </a:defPPr>
          </a:lstStyle>
          <a:p xmlns:a="http://schemas.openxmlformats.org/drawingml/2006/main">
            <a:pPr algn="l" rtl="1">
              <a:lnSpc>
                <a:spcPct val="100000"/>
              </a:lnSpc>
              <a:buNone/>
              <a:defRPr sz="900" b="0" lang="he-IL" altLang="en-US">
                <a:solidFill>
                  <a:srgbClr val="724A33"/>
                </a:solidFill>
                <a:latin typeface="Arial"/>
                <a:ea typeface="Arial"/>
                <a:cs typeface="Arial"/>
              </a:defRPr>
            </a:pPr>
            <a:r>
              <a:rPr sz="900" b="0" lang="he-IL" altLang="en-US">
                <a:solidFill>
                  <a:srgbClr val="724A33"/>
                </a:solidFill>
                <a:latin typeface="Arial"/>
                <a:ea typeface="Arial"/>
                <a:cs typeface="Arial"/>
              </a:rPr>
              <a:t>גרסה מודרנית ושקטה</a:t>
            </a:r>
          </a:p>
        </p:txBody>
      </p:sp>
      <p:sp>
        <p:nvSpPr>
          <p:cNvPr id="23" name="">
            <a:extLst xmlns:a="http://schemas.openxmlformats.org/drawingml/2006/main">
              <a:ext uri="{FF2B5EF4-FFF2-40B4-BE49-F238E27FC236}">
                <a16:creationId xmlns:a16="http://schemas.microsoft.com/office/drawing/2014/main" id="{050323B9-791E-4496-A1AD-C4D2C7A8F35C}"/>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724A33"/>
                </a:solidFill>
                <a:latin typeface="Arial"/>
                <a:ea typeface="Arial"/>
                <a:cs typeface="Arial"/>
              </a:defRPr>
            </a:defPPr>
          </a:lstStyle>
          <a:p xmlns:a="http://schemas.openxmlformats.org/drawingml/2006/main">
            <a:pPr algn="r">
              <a:lnSpc>
                <a:spcPct val="100000"/>
              </a:lnSpc>
              <a:buNone/>
              <a:defRPr sz="975" b="0">
                <a:solidFill>
                  <a:srgbClr val="724A33"/>
                </a:solidFill>
                <a:latin typeface="Arial"/>
                <a:ea typeface="Arial"/>
                <a:cs typeface="Arial"/>
              </a:defRPr>
            </a:pPr>
            <a:r>
              <a:rPr sz="975" b="0">
                <a:solidFill>
                  <a:srgbClr val="724A33"/>
                </a:solidFill>
                <a:latin typeface="Arial"/>
                <a:ea typeface="Arial"/>
                <a:cs typeface="Arial"/>
              </a:rPr>
              <a:t>05</a:t>
            </a:r>
          </a:p>
        </p:txBody>
      </p:sp>
    </p:spTree>
    <p:extLst>
      <p:ext uri="{BB962C8B-B14F-4D97-AF65-F5344CB8AC3E}">
        <p14:creationId xmlns:p14="http://schemas.microsoft.com/office/powerpoint/2010/main" val="1657604688"/>
      </p:ext>
    </p:extLst>
  </p:cSld>
</p:sld>
</file>

<file path=ppt/slides/slide6.xml><?xml version="1.0" encoding="utf-8"?>
<p:sld xmlns:p="http://schemas.openxmlformats.org/presentationml/2006/main">
  <p:cSld>
    <p:bg>
      <p:bgPr>
        <a:solidFill xmlns:a="http://schemas.openxmlformats.org/drawingml/2006/main">
          <a:srgbClr val="E6E9E8"/>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8CED0985-EF1A-4596-B297-AB1DDBCBDE07}"/>
              </a:ext>
            </a:extLst>
          </p:cNvPr>
          <p:cNvCxnSpPr>
            <a:stCxn xmlns:a="http://schemas.openxmlformats.org/drawingml/2006/main" id="17" idx="0"/>
            <a:endCxn xmlns:a="http://schemas.openxmlformats.org/drawingml/2006/main" id="5" idx="5"/>
          </p:cNvCxnSpPr>
          <p:nvPr/>
        </p:nvCxnSpPr>
        <p:spPr>
          <a:xfrm xmlns:a="http://schemas.openxmlformats.org/drawingml/2006/main" flipH="1" flipV="1">
            <a:off x="3374277" y="3945777"/>
            <a:ext cx="664323" cy="1102473"/>
          </a:xfrm>
          <a:prstGeom xmlns:a="http://schemas.openxmlformats.org/drawingml/2006/main" prst="straightConnector1">
            <a:avLst/>
          </a:prstGeom>
          <a:ln xmlns:a="http://schemas.openxmlformats.org/drawingml/2006/main" w="28575">
            <a:solidFill>
              <a:srgbClr val="293E35"/>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5B01B4A4-233E-4645-BADB-EF8F81EB9D8B}"/>
              </a:ext>
            </a:extLst>
          </p:cNvPr>
          <p:cNvCxnSpPr>
            <a:stCxn xmlns:a="http://schemas.openxmlformats.org/drawingml/2006/main" id="14" idx="2"/>
            <a:endCxn xmlns:a="http://schemas.openxmlformats.org/drawingml/2006/main" id="17" idx="6"/>
          </p:cNvCxnSpPr>
          <p:nvPr/>
        </p:nvCxnSpPr>
        <p:spPr>
          <a:xfrm xmlns:a="http://schemas.openxmlformats.org/drawingml/2006/main" flipH="1">
            <a:off x="4648200" y="5657850"/>
            <a:ext cx="2447925" cy="0"/>
          </a:xfrm>
          <a:prstGeom xmlns:a="http://schemas.openxmlformats.org/drawingml/2006/main" prst="straightConnector1">
            <a:avLst/>
          </a:prstGeom>
          <a:ln xmlns:a="http://schemas.openxmlformats.org/drawingml/2006/main" w="28575">
            <a:solidFill>
              <a:srgbClr val="293E3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8FE008B4-6D21-42FA-999A-29B8CF5DD769}"/>
              </a:ext>
            </a:extLst>
          </p:cNvPr>
          <p:cNvCxnSpPr>
            <a:stCxn xmlns:a="http://schemas.openxmlformats.org/drawingml/2006/main" id="11" idx="3"/>
            <a:endCxn xmlns:a="http://schemas.openxmlformats.org/drawingml/2006/main" id="14" idx="0"/>
          </p:cNvCxnSpPr>
          <p:nvPr/>
        </p:nvCxnSpPr>
        <p:spPr>
          <a:xfrm xmlns:a="http://schemas.openxmlformats.org/drawingml/2006/main" flipH="1">
            <a:off x="7705725" y="3945777"/>
            <a:ext cx="616698" cy="1102473"/>
          </a:xfrm>
          <a:prstGeom xmlns:a="http://schemas.openxmlformats.org/drawingml/2006/main" prst="straightConnector1">
            <a:avLst/>
          </a:prstGeom>
          <a:ln xmlns:a="http://schemas.openxmlformats.org/drawingml/2006/main" w="28575">
            <a:solidFill>
              <a:srgbClr val="293E3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31B29146-4668-42CD-9DA9-1A395BEAA6EF}"/>
              </a:ext>
            </a:extLst>
          </p:cNvPr>
          <p:cNvCxnSpPr>
            <a:stCxn xmlns:a="http://schemas.openxmlformats.org/drawingml/2006/main" id="8" idx="5"/>
            <a:endCxn xmlns:a="http://schemas.openxmlformats.org/drawingml/2006/main" id="11" idx="2"/>
          </p:cNvCxnSpPr>
          <p:nvPr/>
        </p:nvCxnSpPr>
        <p:spPr>
          <a:xfrm xmlns:a="http://schemas.openxmlformats.org/drawingml/2006/main">
            <a:off x="6327027" y="2659902"/>
            <a:ext cx="1816848" cy="854823"/>
          </a:xfrm>
          <a:prstGeom xmlns:a="http://schemas.openxmlformats.org/drawingml/2006/main" prst="straightConnector1">
            <a:avLst/>
          </a:prstGeom>
          <a:ln xmlns:a="http://schemas.openxmlformats.org/drawingml/2006/main" w="28575">
            <a:solidFill>
              <a:srgbClr val="293E3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168FA3F6-815A-4666-82EA-21672CD96015}"/>
              </a:ext>
            </a:extLst>
          </p:cNvPr>
          <p:cNvCxnSpPr>
            <a:stCxn xmlns:a="http://schemas.openxmlformats.org/drawingml/2006/main" id="5" idx="6"/>
            <a:endCxn xmlns:a="http://schemas.openxmlformats.org/drawingml/2006/main" id="8" idx="3"/>
          </p:cNvCxnSpPr>
          <p:nvPr/>
        </p:nvCxnSpPr>
        <p:spPr>
          <a:xfrm xmlns:a="http://schemas.openxmlformats.org/drawingml/2006/main" flipV="1">
            <a:off x="3552825" y="2659902"/>
            <a:ext cx="1912098" cy="854823"/>
          </a:xfrm>
          <a:prstGeom xmlns:a="http://schemas.openxmlformats.org/drawingml/2006/main" prst="straightConnector1">
            <a:avLst/>
          </a:prstGeom>
          <a:ln xmlns:a="http://schemas.openxmlformats.org/drawingml/2006/main" w="28575">
            <a:solidFill>
              <a:srgbClr val="293E35"/>
            </a:solidFill>
            <a:prstDash val="solid"/>
            <a:tailEnd type="triangle" w="sm" len="sm"/>
          </a:ln>
        </p:spPr>
      </p:cxnSp>
      <p:sp>
        <p:nvSpPr>
          <p:cNvPr id="28" name="">
            <a:extLst xmlns:a="http://schemas.openxmlformats.org/drawingml/2006/main">
              <a:ext uri="{FF2B5EF4-FFF2-40B4-BE49-F238E27FC236}">
                <a16:creationId xmlns:a16="http://schemas.microsoft.com/office/drawing/2014/main" id="{7467A8B2-68A1-4118-ADEE-6604DA5F35A1}"/>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293E3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CF4E58-EF2D-44CE-9BAC-BE3C26DA5FC3}"/>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141E1A"/>
                </a:solidFill>
                <a:latin typeface="Arial"/>
                <a:ea typeface="Arial"/>
                <a:cs typeface="Arial"/>
              </a:defRPr>
            </a:defPPr>
          </a:lstStyle>
          <a:p xmlns:a="http://schemas.openxmlformats.org/drawingml/2006/main">
            <a:pPr algn="r" rtl="1">
              <a:lnSpc>
                <a:spcPct val="100000"/>
              </a:lnSpc>
              <a:buNone/>
              <a:defRPr sz="2400" b="1" lang="he-IL" altLang="en-US">
                <a:solidFill>
                  <a:srgbClr val="141E1A"/>
                </a:solidFill>
                <a:latin typeface="Arial"/>
                <a:ea typeface="Arial"/>
                <a:cs typeface="Arial"/>
              </a:defRPr>
            </a:pPr>
            <a:r>
              <a:rPr sz="2400" b="1" lang="he-IL" altLang="en-US">
                <a:solidFill>
                  <a:srgbClr val="141E1A"/>
                </a:solidFill>
                <a:latin typeface="Arial"/>
                <a:ea typeface="Arial"/>
                <a:cs typeface="Arial"/>
              </a:rPr>
              <a:t>מעגל ההזנה</a:t>
            </a:r>
          </a:p>
        </p:txBody>
      </p:sp>
      <p:sp>
        <p:nvSpPr>
          <p:cNvPr id="3" name="">
            <a:extLst xmlns:a="http://schemas.openxmlformats.org/drawingml/2006/main">
              <a:ext uri="{FF2B5EF4-FFF2-40B4-BE49-F238E27FC236}">
                <a16:creationId xmlns:a16="http://schemas.microsoft.com/office/drawing/2014/main" id="{45486275-4E7F-4DD4-B1F4-6785817169DA}"/>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1E2F28"/>
                </a:solidFill>
                <a:latin typeface="Arial"/>
                <a:ea typeface="Arial"/>
                <a:cs typeface="Arial"/>
              </a:defRPr>
            </a:defPPr>
          </a:lstStyle>
          <a:p xmlns:a="http://schemas.openxmlformats.org/drawingml/2006/main">
            <a:pPr algn="r" rtl="1">
              <a:lnSpc>
                <a:spcPct val="100000"/>
              </a:lnSpc>
              <a:buNone/>
              <a:defRPr sz="1500" b="0" lang="he-IL" altLang="en-US">
                <a:solidFill>
                  <a:srgbClr val="1E2F28"/>
                </a:solidFill>
                <a:latin typeface="Arial"/>
                <a:ea typeface="Arial"/>
                <a:cs typeface="Arial"/>
              </a:defRPr>
            </a:pPr>
            <a:r>
              <a:rPr sz="1500" b="0" lang="he-IL" altLang="en-US">
                <a:solidFill>
                  <a:srgbClr val="1E2F28"/>
                </a:solidFill>
                <a:latin typeface="Arial"/>
                <a:ea typeface="Arial"/>
                <a:cs typeface="Arial"/>
              </a:rPr>
              <a:t>כל אלמנט מזין את הבא אחריו במחזור מתמשך</a:t>
            </a:r>
          </a:p>
        </p:txBody>
      </p:sp>
      <p:sp>
        <p:nvSpPr>
          <p:cNvPr id="4" name="">
            <a:extLst xmlns:a="http://schemas.openxmlformats.org/drawingml/2006/main">
              <a:ext uri="{FF2B5EF4-FFF2-40B4-BE49-F238E27FC236}">
                <a16:creationId xmlns:a16="http://schemas.microsoft.com/office/drawing/2014/main" id="{3C7197A4-2810-4A14-89E7-E50DEA1562DC}"/>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A2AEA9"/>
            </a:solidFill>
            <a:prstDash val="solid"/>
          </a:ln>
        </p:spPr>
      </p:sp>
      <p:sp>
        <p:nvSpPr>
          <p:cNvPr id="5" name="">
            <a:extLst xmlns:a="http://schemas.openxmlformats.org/drawingml/2006/main">
              <a:ext uri="{FF2B5EF4-FFF2-40B4-BE49-F238E27FC236}">
                <a16:creationId xmlns:a16="http://schemas.microsoft.com/office/drawing/2014/main" id="{E5AB6032-66B4-4F8E-AFFD-28818678CCD2}"/>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293E3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6C47DD6-CABB-488B-9889-705E769F0CFB}"/>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B4DCDE26-FA73-4303-A0FF-3165DD885812}"/>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מים מזינים</a:t>
            </a:r>
          </a:p>
        </p:txBody>
      </p:sp>
      <p:sp>
        <p:nvSpPr>
          <p:cNvPr id="8" name="">
            <a:extLst xmlns:a="http://schemas.openxmlformats.org/drawingml/2006/main">
              <a:ext uri="{FF2B5EF4-FFF2-40B4-BE49-F238E27FC236}">
                <a16:creationId xmlns:a16="http://schemas.microsoft.com/office/drawing/2014/main" id="{5E8E764D-CB87-488B-A65E-416143E51E67}"/>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293E3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6E86324-723F-48D9-BFAB-9D54DD200CE0}"/>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33FB1465-D6AA-4B6E-8BB8-90F84AA15E13}"/>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עץ מזין</a:t>
            </a:r>
          </a:p>
        </p:txBody>
      </p:sp>
      <p:sp>
        <p:nvSpPr>
          <p:cNvPr id="11" name="">
            <a:extLst xmlns:a="http://schemas.openxmlformats.org/drawingml/2006/main">
              <a:ext uri="{FF2B5EF4-FFF2-40B4-BE49-F238E27FC236}">
                <a16:creationId xmlns:a16="http://schemas.microsoft.com/office/drawing/2014/main" id="{6AC6C326-6F79-450C-A61C-91E3D28A46D2}"/>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293E3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4DF509D-73EE-488D-9011-01BE16D88ADA}"/>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6D84A3B9-6190-497B-B5B3-08BF5C22F909}"/>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אש יוצרת</a:t>
            </a:r>
          </a:p>
        </p:txBody>
      </p:sp>
      <p:sp>
        <p:nvSpPr>
          <p:cNvPr id="14" name="">
            <a:extLst xmlns:a="http://schemas.openxmlformats.org/drawingml/2006/main">
              <a:ext uri="{FF2B5EF4-FFF2-40B4-BE49-F238E27FC236}">
                <a16:creationId xmlns:a16="http://schemas.microsoft.com/office/drawing/2014/main" id="{98181327-B109-4219-8DA7-6B87D2EAFC6D}"/>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293E3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D8915B8-D386-4ADB-8D90-62C4D4ACA877}"/>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EA8133CF-EBE6-4719-A68B-58626721B6C8}"/>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אדמה נושאת</a:t>
            </a:r>
          </a:p>
        </p:txBody>
      </p:sp>
      <p:sp>
        <p:nvSpPr>
          <p:cNvPr id="17" name="">
            <a:extLst xmlns:a="http://schemas.openxmlformats.org/drawingml/2006/main">
              <a:ext uri="{FF2B5EF4-FFF2-40B4-BE49-F238E27FC236}">
                <a16:creationId xmlns:a16="http://schemas.microsoft.com/office/drawing/2014/main" id="{B9D5522F-4DB4-4F90-A78E-33115E013E89}"/>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293E3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85BD792-CA3F-48E5-A81F-B46B4827E4B9}"/>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09947BDE-8156-4068-8A77-3419E30A5BEB}"/>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מתכת אוספת</a:t>
            </a:r>
          </a:p>
        </p:txBody>
      </p:sp>
      <p:sp>
        <p:nvSpPr>
          <p:cNvPr id="25" name="">
            <a:extLst xmlns:a="http://schemas.openxmlformats.org/drawingml/2006/main">
              <a:ext uri="{FF2B5EF4-FFF2-40B4-BE49-F238E27FC236}">
                <a16:creationId xmlns:a16="http://schemas.microsoft.com/office/drawing/2014/main" id="{477A1B8B-679B-4810-BCD9-CAAA22DBCA0C}"/>
              </a:ext>
            </a:extLst>
          </p:cNvPr>
          <p:cNvSpPr>
            <a:spLocks xmlns:a="http://schemas.openxmlformats.org/drawingml/2006/main" noGrp="1"/>
          </p:cNvSpPr>
          <p:nvPr/>
        </p:nvSpPr>
        <p:spPr>
          <a:xfrm xmlns:a="http://schemas.openxmlformats.org/drawingml/2006/main">
            <a:off x="409575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00" b="1">
                <a:solidFill>
                  <a:srgbClr val="141E1A"/>
                </a:solidFill>
                <a:latin typeface="Arial"/>
                <a:ea typeface="Arial"/>
                <a:cs typeface="Arial"/>
              </a:defRPr>
            </a:defPPr>
          </a:lstStyle>
          <a:p xmlns:a="http://schemas.openxmlformats.org/drawingml/2006/main">
            <a:pPr algn="ctr" rtl="1">
              <a:lnSpc>
                <a:spcPct val="102000"/>
              </a:lnSpc>
              <a:buNone/>
              <a:defRPr sz="1800" b="1" lang="he-IL" altLang="en-US">
                <a:solidFill>
                  <a:srgbClr val="141E1A"/>
                </a:solidFill>
                <a:latin typeface="Arial"/>
                <a:ea typeface="Arial"/>
                <a:cs typeface="Arial"/>
              </a:defRPr>
            </a:pPr>
            <a:r>
              <a:rPr sz="1800" b="1" lang="he-IL" altLang="en-US">
                <a:solidFill>
                  <a:srgbClr val="141E1A"/>
                </a:solidFill>
                <a:latin typeface="Arial"/>
                <a:ea typeface="Arial"/>
                <a:cs typeface="Arial"/>
              </a:rPr>
              <a:t>הזנה אינה רק נתינה. כל אלמנט גם מקבל מן הקודם וגם מכין את הקרקע לבא אחריו.</a:t>
            </a:r>
          </a:p>
        </p:txBody>
      </p:sp>
      <p:sp>
        <p:nvSpPr>
          <p:cNvPr id="26" name="">
            <a:extLst xmlns:a="http://schemas.openxmlformats.org/drawingml/2006/main">
              <a:ext uri="{FF2B5EF4-FFF2-40B4-BE49-F238E27FC236}">
                <a16:creationId xmlns:a16="http://schemas.microsoft.com/office/drawing/2014/main" id="{745E40BD-17DD-484E-AB8E-83C93A586F4E}"/>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1E2F28"/>
                </a:solidFill>
                <a:latin typeface="Arial"/>
                <a:ea typeface="Arial"/>
                <a:cs typeface="Arial"/>
              </a:defRPr>
            </a:defPPr>
          </a:lstStyle>
          <a:p xmlns:a="http://schemas.openxmlformats.org/drawingml/2006/main">
            <a:pPr algn="l" rtl="1">
              <a:lnSpc>
                <a:spcPct val="100000"/>
              </a:lnSpc>
              <a:buNone/>
              <a:defRPr sz="900" b="0" lang="he-IL" altLang="en-US">
                <a:solidFill>
                  <a:srgbClr val="1E2F28"/>
                </a:solidFill>
                <a:latin typeface="Arial"/>
                <a:ea typeface="Arial"/>
                <a:cs typeface="Arial"/>
              </a:defRPr>
            </a:pPr>
            <a:r>
              <a:rPr sz="900" b="0" lang="he-IL" altLang="en-US">
                <a:solidFill>
                  <a:srgbClr val="1E2F28"/>
                </a:solidFill>
                <a:latin typeface="Arial"/>
                <a:ea typeface="Arial"/>
                <a:cs typeface="Arial"/>
              </a:rPr>
              <a:t>גרסה מודרנית ושקטה</a:t>
            </a:r>
          </a:p>
        </p:txBody>
      </p:sp>
      <p:sp>
        <p:nvSpPr>
          <p:cNvPr id="27" name="">
            <a:extLst xmlns:a="http://schemas.openxmlformats.org/drawingml/2006/main">
              <a:ext uri="{FF2B5EF4-FFF2-40B4-BE49-F238E27FC236}">
                <a16:creationId xmlns:a16="http://schemas.microsoft.com/office/drawing/2014/main" id="{37EE8A65-197F-4E48-80ED-C746CCFA5390}"/>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1E2F28"/>
                </a:solidFill>
                <a:latin typeface="Arial"/>
                <a:ea typeface="Arial"/>
                <a:cs typeface="Arial"/>
              </a:defRPr>
            </a:defPPr>
          </a:lstStyle>
          <a:p xmlns:a="http://schemas.openxmlformats.org/drawingml/2006/main">
            <a:pPr algn="r">
              <a:lnSpc>
                <a:spcPct val="100000"/>
              </a:lnSpc>
              <a:buNone/>
              <a:defRPr sz="975" b="0">
                <a:solidFill>
                  <a:srgbClr val="1E2F28"/>
                </a:solidFill>
                <a:latin typeface="Arial"/>
                <a:ea typeface="Arial"/>
                <a:cs typeface="Arial"/>
              </a:defRPr>
            </a:pPr>
            <a:r>
              <a:rPr sz="975" b="0">
                <a:solidFill>
                  <a:srgbClr val="1E2F28"/>
                </a:solidFill>
                <a:latin typeface="Arial"/>
                <a:ea typeface="Arial"/>
                <a:cs typeface="Arial"/>
              </a:rPr>
              <a:t>06</a:t>
            </a:r>
          </a:p>
        </p:txBody>
      </p:sp>
    </p:spTree>
    <p:extLst>
      <p:ext uri="{BB962C8B-B14F-4D97-AF65-F5344CB8AC3E}">
        <p14:creationId xmlns:p14="http://schemas.microsoft.com/office/powerpoint/2010/main" val="1721459144"/>
      </p:ext>
    </p:extLst>
  </p:cSld>
</p:sld>
</file>

<file path=ppt/slides/slide7.xml><?xml version="1.0" encoding="utf-8"?>
<p:sld xmlns:p="http://schemas.openxmlformats.org/presentationml/2006/main">
  <p:cSld>
    <p:bg>
      <p:bgPr>
        <a:solidFill xmlns:a="http://schemas.openxmlformats.org/drawingml/2006/main">
          <a:srgbClr val="EFEBEC"/>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399DC0BE-9140-4D8B-A4AF-99CCEBFF491D}"/>
              </a:ext>
            </a:extLst>
          </p:cNvPr>
          <p:cNvCxnSpPr>
            <a:stCxn xmlns:a="http://schemas.openxmlformats.org/drawingml/2006/main" id="14" idx="1"/>
            <a:endCxn xmlns:a="http://schemas.openxmlformats.org/drawingml/2006/main" id="5" idx="6"/>
          </p:cNvCxnSpPr>
          <p:nvPr/>
        </p:nvCxnSpPr>
        <p:spPr>
          <a:xfrm xmlns:a="http://schemas.openxmlformats.org/drawingml/2006/main" flipH="1" flipV="1">
            <a:off x="3552825" y="3514725"/>
            <a:ext cx="3721848" cy="1712073"/>
          </a:xfrm>
          <a:prstGeom xmlns:a="http://schemas.openxmlformats.org/drawingml/2006/main" prst="straightConnector1">
            <a:avLst/>
          </a:prstGeom>
          <a:ln xmlns:a="http://schemas.openxmlformats.org/drawingml/2006/main" w="28575">
            <a:solidFill>
              <a:srgbClr val="624753"/>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151E35CB-2EB0-4886-B7F4-744AEAF787A8}"/>
              </a:ext>
            </a:extLst>
          </p:cNvPr>
          <p:cNvCxnSpPr>
            <a:stCxn xmlns:a="http://schemas.openxmlformats.org/drawingml/2006/main" id="8" idx="5"/>
            <a:endCxn xmlns:a="http://schemas.openxmlformats.org/drawingml/2006/main" id="14" idx="1"/>
          </p:cNvCxnSpPr>
          <p:nvPr/>
        </p:nvCxnSpPr>
        <p:spPr>
          <a:xfrm xmlns:a="http://schemas.openxmlformats.org/drawingml/2006/main">
            <a:off x="6327027" y="2659902"/>
            <a:ext cx="947645" cy="2566895"/>
          </a:xfrm>
          <a:prstGeom xmlns:a="http://schemas.openxmlformats.org/drawingml/2006/main" prst="straightConnector1">
            <a:avLst/>
          </a:prstGeom>
          <a:ln xmlns:a="http://schemas.openxmlformats.org/drawingml/2006/main" w="28575">
            <a:solidFill>
              <a:srgbClr val="624753"/>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792D1345-4C9A-4034-9AAD-E3DF8846FC74}"/>
              </a:ext>
            </a:extLst>
          </p:cNvPr>
          <p:cNvCxnSpPr>
            <a:stCxn xmlns:a="http://schemas.openxmlformats.org/drawingml/2006/main" id="17" idx="7"/>
            <a:endCxn xmlns:a="http://schemas.openxmlformats.org/drawingml/2006/main" id="8" idx="3"/>
          </p:cNvCxnSpPr>
          <p:nvPr/>
        </p:nvCxnSpPr>
        <p:spPr>
          <a:xfrm xmlns:a="http://schemas.openxmlformats.org/drawingml/2006/main" flipV="1">
            <a:off x="4469652" y="2659902"/>
            <a:ext cx="995270" cy="2566895"/>
          </a:xfrm>
          <a:prstGeom xmlns:a="http://schemas.openxmlformats.org/drawingml/2006/main" prst="straightConnector1">
            <a:avLst/>
          </a:prstGeom>
          <a:ln xmlns:a="http://schemas.openxmlformats.org/drawingml/2006/main" w="28575">
            <a:solidFill>
              <a:srgbClr val="624753"/>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D55C13B2-9DB5-4B5F-9A5C-02B9D70C6EE1}"/>
              </a:ext>
            </a:extLst>
          </p:cNvPr>
          <p:cNvCxnSpPr>
            <a:stCxn xmlns:a="http://schemas.openxmlformats.org/drawingml/2006/main" id="11" idx="2"/>
            <a:endCxn xmlns:a="http://schemas.openxmlformats.org/drawingml/2006/main" id="17" idx="7"/>
          </p:cNvCxnSpPr>
          <p:nvPr/>
        </p:nvCxnSpPr>
        <p:spPr>
          <a:xfrm xmlns:a="http://schemas.openxmlformats.org/drawingml/2006/main" flipH="1">
            <a:off x="4469652" y="3514725"/>
            <a:ext cx="3674223" cy="1712073"/>
          </a:xfrm>
          <a:prstGeom xmlns:a="http://schemas.openxmlformats.org/drawingml/2006/main" prst="straightConnector1">
            <a:avLst/>
          </a:prstGeom>
          <a:ln xmlns:a="http://schemas.openxmlformats.org/drawingml/2006/main" w="28575">
            <a:solidFill>
              <a:srgbClr val="624753"/>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B7622BD0-2E1E-43EE-9200-605A78A21762}"/>
              </a:ext>
            </a:extLst>
          </p:cNvPr>
          <p:cNvCxnSpPr>
            <a:stCxn xmlns:a="http://schemas.openxmlformats.org/drawingml/2006/main" id="5" idx="6"/>
            <a:endCxn xmlns:a="http://schemas.openxmlformats.org/drawingml/2006/main" id="11" idx="2"/>
          </p:cNvCxnSpPr>
          <p:nvPr/>
        </p:nvCxnSpPr>
        <p:spPr>
          <a:xfrm xmlns:a="http://schemas.openxmlformats.org/drawingml/2006/main">
            <a:off x="3552825" y="3514725"/>
            <a:ext cx="4591050" cy="0"/>
          </a:xfrm>
          <a:prstGeom xmlns:a="http://schemas.openxmlformats.org/drawingml/2006/main" prst="straightConnector1">
            <a:avLst/>
          </a:prstGeom>
          <a:ln xmlns:a="http://schemas.openxmlformats.org/drawingml/2006/main" w="28575">
            <a:solidFill>
              <a:srgbClr val="624753"/>
            </a:solidFill>
            <a:prstDash val="solid"/>
            <a:tailEnd type="triangle" w="sm" len="sm"/>
          </a:ln>
        </p:spPr>
      </p:cxnSp>
      <p:sp>
        <p:nvSpPr>
          <p:cNvPr id="29" name="">
            <a:extLst xmlns:a="http://schemas.openxmlformats.org/drawingml/2006/main">
              <a:ext uri="{FF2B5EF4-FFF2-40B4-BE49-F238E27FC236}">
                <a16:creationId xmlns:a16="http://schemas.microsoft.com/office/drawing/2014/main" id="{153F5877-33ED-4FAB-8BF5-4493F5A06061}"/>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62475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652161-7490-41D0-A3B9-47354558D272}"/>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2F2228"/>
                </a:solidFill>
                <a:latin typeface="Arial"/>
                <a:ea typeface="Arial"/>
                <a:cs typeface="Arial"/>
              </a:defRPr>
            </a:defPPr>
          </a:lstStyle>
          <a:p xmlns:a="http://schemas.openxmlformats.org/drawingml/2006/main">
            <a:pPr algn="r" rtl="1">
              <a:lnSpc>
                <a:spcPct val="100000"/>
              </a:lnSpc>
              <a:buNone/>
              <a:defRPr sz="2400" b="1" lang="he-IL" altLang="en-US">
                <a:solidFill>
                  <a:srgbClr val="2F2228"/>
                </a:solidFill>
                <a:latin typeface="Arial"/>
                <a:ea typeface="Arial"/>
                <a:cs typeface="Arial"/>
              </a:defRPr>
            </a:pPr>
            <a:r>
              <a:rPr sz="2400" b="1" lang="he-IL" altLang="en-US">
                <a:solidFill>
                  <a:srgbClr val="2F2228"/>
                </a:solidFill>
                <a:latin typeface="Arial"/>
                <a:ea typeface="Arial"/>
                <a:cs typeface="Arial"/>
              </a:rPr>
              <a:t>מעגל הבקרה</a:t>
            </a:r>
          </a:p>
        </p:txBody>
      </p:sp>
      <p:sp>
        <p:nvSpPr>
          <p:cNvPr id="3" name="">
            <a:extLst xmlns:a="http://schemas.openxmlformats.org/drawingml/2006/main">
              <a:ext uri="{FF2B5EF4-FFF2-40B4-BE49-F238E27FC236}">
                <a16:creationId xmlns:a16="http://schemas.microsoft.com/office/drawing/2014/main" id="{8A84C811-0983-45A2-8D40-97D2052B8320}"/>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49353E"/>
                </a:solidFill>
                <a:latin typeface="Arial"/>
                <a:ea typeface="Arial"/>
                <a:cs typeface="Arial"/>
              </a:defRPr>
            </a:defPPr>
          </a:lstStyle>
          <a:p xmlns:a="http://schemas.openxmlformats.org/drawingml/2006/main">
            <a:pPr algn="r" rtl="1">
              <a:lnSpc>
                <a:spcPct val="100000"/>
              </a:lnSpc>
              <a:buNone/>
              <a:defRPr sz="1500" b="0" lang="he-IL" altLang="en-US">
                <a:solidFill>
                  <a:srgbClr val="49353E"/>
                </a:solidFill>
                <a:latin typeface="Arial"/>
                <a:ea typeface="Arial"/>
                <a:cs typeface="Arial"/>
              </a:defRPr>
            </a:pPr>
            <a:r>
              <a:rPr sz="1500" b="0" lang="he-IL" altLang="en-US">
                <a:solidFill>
                  <a:srgbClr val="49353E"/>
                </a:solidFill>
                <a:latin typeface="Arial"/>
                <a:ea typeface="Arial"/>
                <a:cs typeface="Arial"/>
              </a:rPr>
              <a:t>איזון במסורת כולל גם ריסון, גבול והתאמה</a:t>
            </a:r>
          </a:p>
        </p:txBody>
      </p:sp>
      <p:sp>
        <p:nvSpPr>
          <p:cNvPr id="4" name="">
            <a:extLst xmlns:a="http://schemas.openxmlformats.org/drawingml/2006/main">
              <a:ext uri="{FF2B5EF4-FFF2-40B4-BE49-F238E27FC236}">
                <a16:creationId xmlns:a16="http://schemas.microsoft.com/office/drawing/2014/main" id="{AA4AABD7-07F1-4A34-8596-4446DDE50BC7}"/>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C1B3B9"/>
            </a:solidFill>
            <a:prstDash val="solid"/>
          </a:ln>
        </p:spPr>
      </p:sp>
      <p:sp>
        <p:nvSpPr>
          <p:cNvPr id="5" name="">
            <a:extLst xmlns:a="http://schemas.openxmlformats.org/drawingml/2006/main">
              <a:ext uri="{FF2B5EF4-FFF2-40B4-BE49-F238E27FC236}">
                <a16:creationId xmlns:a16="http://schemas.microsoft.com/office/drawing/2014/main" id="{AE874709-59AD-4155-92BB-E8A4BA4DF1ED}"/>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F9A629A-7C8D-4282-89A0-39CF74DBED09}"/>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883DB4A2-AB0B-4136-B60E-72BFBA1698D3}"/>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חותך באדמה</a:t>
            </a:r>
          </a:p>
        </p:txBody>
      </p:sp>
      <p:sp>
        <p:nvSpPr>
          <p:cNvPr id="8" name="">
            <a:extLst xmlns:a="http://schemas.openxmlformats.org/drawingml/2006/main">
              <a:ext uri="{FF2B5EF4-FFF2-40B4-BE49-F238E27FC236}">
                <a16:creationId xmlns:a16="http://schemas.microsoft.com/office/drawing/2014/main" id="{F387408F-E4A3-4CAD-A1C1-FB3C740C238C}"/>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814C99C-2FBB-4851-995E-C825719668BD}"/>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73F8EBF1-DF03-4206-906A-F07DD72F6173}"/>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ממיסה מתכת</a:t>
            </a:r>
          </a:p>
        </p:txBody>
      </p:sp>
      <p:sp>
        <p:nvSpPr>
          <p:cNvPr id="11" name="">
            <a:extLst xmlns:a="http://schemas.openxmlformats.org/drawingml/2006/main">
              <a:ext uri="{FF2B5EF4-FFF2-40B4-BE49-F238E27FC236}">
                <a16:creationId xmlns:a16="http://schemas.microsoft.com/office/drawing/2014/main" id="{031F1E60-EFBD-4D22-85C7-4C2C0013484E}"/>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7D7549A-A30D-4E66-9F74-59270B31AA85}"/>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2D6AB186-9830-4555-9F1C-B10BC1DF08C3}"/>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תוחמת מים</a:t>
            </a:r>
          </a:p>
        </p:txBody>
      </p:sp>
      <p:sp>
        <p:nvSpPr>
          <p:cNvPr id="14" name="">
            <a:extLst xmlns:a="http://schemas.openxmlformats.org/drawingml/2006/main">
              <a:ext uri="{FF2B5EF4-FFF2-40B4-BE49-F238E27FC236}">
                <a16:creationId xmlns:a16="http://schemas.microsoft.com/office/drawing/2014/main" id="{AE37A8BD-30CF-402B-8D73-818D4BB2F310}"/>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BDA8C5A-F20D-4459-AA89-F81C8E2F4446}"/>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BCFE63B2-CDEF-4D4B-A79C-49E559228E0C}"/>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חותכת עץ</a:t>
            </a:r>
          </a:p>
        </p:txBody>
      </p:sp>
      <p:sp>
        <p:nvSpPr>
          <p:cNvPr id="17" name="">
            <a:extLst xmlns:a="http://schemas.openxmlformats.org/drawingml/2006/main">
              <a:ext uri="{FF2B5EF4-FFF2-40B4-BE49-F238E27FC236}">
                <a16:creationId xmlns:a16="http://schemas.microsoft.com/office/drawing/2014/main" id="{83C20FA2-4D3B-4BB5-92D7-D095BFCC617C}"/>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DFDBBA3-B0CF-4E80-8E7E-4DA1B0284979}"/>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D9FF4723-A9CC-45A3-B048-EDEF67BC44A8}"/>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מרסנים אש</a:t>
            </a:r>
          </a:p>
        </p:txBody>
      </p:sp>
      <p:sp>
        <p:nvSpPr>
          <p:cNvPr id="25" name="">
            <a:extLst xmlns:a="http://schemas.openxmlformats.org/drawingml/2006/main">
              <a:ext uri="{FF2B5EF4-FFF2-40B4-BE49-F238E27FC236}">
                <a16:creationId xmlns:a16="http://schemas.microsoft.com/office/drawing/2014/main" id="{4DA7A6A2-0359-4B92-841A-A91AB97D98BC}"/>
              </a:ext>
            </a:extLst>
          </p:cNvPr>
          <p:cNvSpPr>
            <a:spLocks xmlns:a="http://schemas.openxmlformats.org/drawingml/2006/main" noGrp="1"/>
          </p:cNvSpPr>
          <p:nvPr/>
        </p:nvSpPr>
        <p:spPr>
          <a:xfrm xmlns:a="http://schemas.openxmlformats.org/drawingml/2006/main">
            <a:off x="3905250" y="3143250"/>
            <a:ext cx="4381500" cy="1714500"/>
          </a:xfrm>
          <a:prstGeom xmlns:a="http://schemas.openxmlformats.org/drawingml/2006/main" prst="ellipse">
            <a:avLst/>
          </a:prstGeom>
          <a:solidFill xmlns:a="http://schemas.openxmlformats.org/drawingml/2006/main">
            <a:srgbClr val="EFEBEC"/>
          </a:solidFill>
          <a:ln xmlns:a="http://schemas.openxmlformats.org/drawingml/2006/main" w="9525">
            <a:solidFill>
              <a:srgbClr val="C1B3B9"/>
            </a:solidFill>
            <a:prstDash val="solid"/>
          </a:ln>
        </p:spPr>
      </p:sp>
      <p:sp>
        <p:nvSpPr>
          <p:cNvPr id="26" name="">
            <a:extLst xmlns:a="http://schemas.openxmlformats.org/drawingml/2006/main">
              <a:ext uri="{FF2B5EF4-FFF2-40B4-BE49-F238E27FC236}">
                <a16:creationId xmlns:a16="http://schemas.microsoft.com/office/drawing/2014/main" id="{230F065D-95FF-4660-BE1E-51D0F103CE1C}"/>
              </a:ext>
            </a:extLst>
          </p:cNvPr>
          <p:cNvSpPr>
            <a:spLocks xmlns:a="http://schemas.openxmlformats.org/drawingml/2006/main" noGrp="1"/>
          </p:cNvSpPr>
          <p:nvPr/>
        </p:nvSpPr>
        <p:spPr>
          <a:xfrm xmlns:a="http://schemas.openxmlformats.org/drawingml/2006/main">
            <a:off x="4000500" y="3352800"/>
            <a:ext cx="4191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00" b="1">
                <a:solidFill>
                  <a:srgbClr val="2F2228"/>
                </a:solidFill>
                <a:latin typeface="Arial"/>
                <a:ea typeface="Arial"/>
                <a:cs typeface="Arial"/>
              </a:defRPr>
            </a:defPPr>
          </a:lstStyle>
          <a:p xmlns:a="http://schemas.openxmlformats.org/drawingml/2006/main">
            <a:pPr algn="ctr" rtl="1">
              <a:lnSpc>
                <a:spcPct val="104000"/>
              </a:lnSpc>
              <a:buNone/>
              <a:defRPr sz="1800" b="1" lang="he-IL" altLang="en-US">
                <a:solidFill>
                  <a:srgbClr val="2F2228"/>
                </a:solidFill>
                <a:latin typeface="Arial"/>
                <a:ea typeface="Arial"/>
                <a:cs typeface="Arial"/>
              </a:defRPr>
            </a:pPr>
            <a:r>
              <a:rPr sz="1800" b="1" lang="he-IL" altLang="en-US">
                <a:solidFill>
                  <a:srgbClr val="2F2228"/>
                </a:solidFill>
                <a:latin typeface="Arial"/>
                <a:ea typeface="Arial"/>
                <a:cs typeface="Arial"/>
              </a:rPr>
              <a:t>בלי הזנה אין צמיחה. בלי בקרה אין גבול. שני המעגלים יחד מתארים מערכת שמבקשת להישאר בתנועה מאוזנת.</a:t>
            </a:r>
          </a:p>
        </p:txBody>
      </p:sp>
      <p:sp>
        <p:nvSpPr>
          <p:cNvPr id="27" name="">
            <a:extLst xmlns:a="http://schemas.openxmlformats.org/drawingml/2006/main">
              <a:ext uri="{FF2B5EF4-FFF2-40B4-BE49-F238E27FC236}">
                <a16:creationId xmlns:a16="http://schemas.microsoft.com/office/drawing/2014/main" id="{DE9C0279-4992-4FB1-BEFD-088B0833C961}"/>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49353E"/>
                </a:solidFill>
                <a:latin typeface="Arial"/>
                <a:ea typeface="Arial"/>
                <a:cs typeface="Arial"/>
              </a:defRPr>
            </a:defPPr>
          </a:lstStyle>
          <a:p xmlns:a="http://schemas.openxmlformats.org/drawingml/2006/main">
            <a:pPr algn="l" rtl="1">
              <a:lnSpc>
                <a:spcPct val="100000"/>
              </a:lnSpc>
              <a:buNone/>
              <a:defRPr sz="900" b="0" lang="he-IL" altLang="en-US">
                <a:solidFill>
                  <a:srgbClr val="49353E"/>
                </a:solidFill>
                <a:latin typeface="Arial"/>
                <a:ea typeface="Arial"/>
                <a:cs typeface="Arial"/>
              </a:defRPr>
            </a:pPr>
            <a:r>
              <a:rPr sz="900" b="0" lang="he-IL" altLang="en-US">
                <a:solidFill>
                  <a:srgbClr val="49353E"/>
                </a:solidFill>
                <a:latin typeface="Arial"/>
                <a:ea typeface="Arial"/>
                <a:cs typeface="Arial"/>
              </a:rPr>
              <a:t>גרסה מודרנית ושקטה</a:t>
            </a:r>
          </a:p>
        </p:txBody>
      </p:sp>
      <p:sp>
        <p:nvSpPr>
          <p:cNvPr id="28" name="">
            <a:extLst xmlns:a="http://schemas.openxmlformats.org/drawingml/2006/main">
              <a:ext uri="{FF2B5EF4-FFF2-40B4-BE49-F238E27FC236}">
                <a16:creationId xmlns:a16="http://schemas.microsoft.com/office/drawing/2014/main" id="{02A170C9-0A23-4237-8B00-FA34A685C031}"/>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49353E"/>
                </a:solidFill>
                <a:latin typeface="Arial"/>
                <a:ea typeface="Arial"/>
                <a:cs typeface="Arial"/>
              </a:defRPr>
            </a:defPPr>
          </a:lstStyle>
          <a:p xmlns:a="http://schemas.openxmlformats.org/drawingml/2006/main">
            <a:pPr algn="r">
              <a:lnSpc>
                <a:spcPct val="100000"/>
              </a:lnSpc>
              <a:buNone/>
              <a:defRPr sz="975" b="0">
                <a:solidFill>
                  <a:srgbClr val="49353E"/>
                </a:solidFill>
                <a:latin typeface="Arial"/>
                <a:ea typeface="Arial"/>
                <a:cs typeface="Arial"/>
              </a:defRPr>
            </a:pPr>
            <a:r>
              <a:rPr sz="975" b="0">
                <a:solidFill>
                  <a:srgbClr val="49353E"/>
                </a:solidFill>
                <a:latin typeface="Arial"/>
                <a:ea typeface="Arial"/>
                <a:cs typeface="Arial"/>
              </a:rPr>
              <a:t>07</a:t>
            </a:r>
          </a:p>
        </p:txBody>
      </p:sp>
    </p:spTree>
    <p:extLst>
      <p:ext uri="{BB962C8B-B14F-4D97-AF65-F5344CB8AC3E}">
        <p14:creationId xmlns:p14="http://schemas.microsoft.com/office/powerpoint/2010/main" val="729907039"/>
      </p:ext>
    </p:extLst>
  </p:cSld>
</p:sld>
</file>

<file path=ppt/slides/slide8.xml><?xml version="1.0" encoding="utf-8"?>
<p:sld xmlns:p="http://schemas.openxmlformats.org/presentationml/2006/main">
  <p:cSld>
    <p:bg>
      <p:bgPr>
        <a:solidFill xmlns:a="http://schemas.openxmlformats.org/drawingml/2006/main">
          <a:srgbClr val="293E3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2FB035-8AED-4316-859E-FAAF4E45C372}"/>
              </a:ext>
            </a:extLst>
          </p:cNvPr>
          <p:cNvSpPr>
            <a:spLocks xmlns:a="http://schemas.openxmlformats.org/drawingml/2006/main" noGrp="1"/>
          </p:cNvSpPr>
          <p:nvPr/>
        </p:nvSpPr>
        <p:spPr>
          <a:xfrm xmlns:a="http://schemas.openxmlformats.org/drawingml/2006/main">
            <a:off x="1476375" y="1428750"/>
            <a:ext cx="923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850" b="1">
                <a:solidFill>
                  <a:srgbClr val="FFFFFF"/>
                </a:solidFill>
                <a:latin typeface="Arial"/>
                <a:ea typeface="Arial"/>
                <a:cs typeface="Arial"/>
              </a:defRPr>
            </a:defPPr>
          </a:lstStyle>
          <a:p xmlns:a="http://schemas.openxmlformats.org/drawingml/2006/main">
            <a:pPr algn="ctr" rtl="1">
              <a:lnSpc>
                <a:spcPct val="112000"/>
              </a:lnSpc>
              <a:buNone/>
              <a:defRPr sz="2850" b="1" lang="he-IL" altLang="en-US">
                <a:solidFill>
                  <a:srgbClr val="FFFFFF"/>
                </a:solidFill>
                <a:latin typeface="Arial"/>
                <a:ea typeface="Arial"/>
                <a:cs typeface="Arial"/>
              </a:defRPr>
            </a:pPr>
            <a:r>
              <a:rPr sz="2850" b="1" lang="he-IL" altLang="en-US">
                <a:solidFill>
                  <a:srgbClr val="FFFFFF"/>
                </a:solidFill>
                <a:latin typeface="Arial"/>
                <a:ea typeface="Arial"/>
                <a:cs typeface="Arial"/>
              </a:rPr>
              <a:t>״אני לא באה ללמד רק את מה שלמדתי.</a:t>
            </a:r>
          </a:p>
          <a:p xmlns:a="http://schemas.openxmlformats.org/drawingml/2006/main">
            <a:pPr algn="ctr" rtl="1">
              <a:lnSpc>
                <a:spcPct val="112000"/>
              </a:lnSpc>
              <a:buNone/>
              <a:defRPr sz="2850" b="1" lang="he-IL" altLang="en-US">
                <a:solidFill>
                  <a:srgbClr val="FFFFFF"/>
                </a:solidFill>
                <a:latin typeface="Arial"/>
                <a:ea typeface="Arial"/>
                <a:cs typeface="Arial"/>
              </a:defRPr>
            </a:pPr>
            <a:r>
              <a:rPr sz="2850" b="1" lang="he-IL" altLang="en-US">
                <a:solidFill>
                  <a:srgbClr val="FFFFFF"/>
                </a:solidFill>
                <a:latin typeface="Arial"/>
                <a:ea typeface="Arial"/>
                <a:cs typeface="Arial"/>
              </a:rPr>
              <a:t>אני באה ללמד את מה שהידיים, המטופלים והניסיון לימדו אותי.״</a:t>
            </a:r>
          </a:p>
        </p:txBody>
      </p:sp>
      <p:sp>
        <p:nvSpPr>
          <p:cNvPr id="2" name="">
            <a:extLst xmlns:a="http://schemas.openxmlformats.org/drawingml/2006/main">
              <a:ext uri="{FF2B5EF4-FFF2-40B4-BE49-F238E27FC236}">
                <a16:creationId xmlns:a16="http://schemas.microsoft.com/office/drawing/2014/main" id="{E2A404A7-B7B8-4A26-943E-7EA46CBB496C}"/>
              </a:ext>
            </a:extLst>
          </p:cNvPr>
          <p:cNvSpPr>
            <a:spLocks xmlns:a="http://schemas.openxmlformats.org/drawingml/2006/main" noGrp="1"/>
          </p:cNvSpPr>
          <p:nvPr/>
        </p:nvSpPr>
        <p:spPr>
          <a:xfrm xmlns:a="http://schemas.openxmlformats.org/drawingml/2006/main">
            <a:off x="4286250" y="4095750"/>
            <a:ext cx="3619500" cy="0"/>
          </a:xfrm>
          <a:prstGeom xmlns:a="http://schemas.openxmlformats.org/drawingml/2006/main" prst="line">
            <a:avLst/>
          </a:prstGeom>
          <a:noFill xmlns:a="http://schemas.openxmlformats.org/drawingml/2006/main"/>
          <a:ln xmlns:a="http://schemas.openxmlformats.org/drawingml/2006/main" w="28575">
            <a:solidFill>
              <a:srgbClr val="A2AEA9"/>
            </a:solidFill>
            <a:prstDash val="solid"/>
          </a:ln>
        </p:spPr>
      </p:sp>
      <p:sp>
        <p:nvSpPr>
          <p:cNvPr id="3" name="">
            <a:extLst xmlns:a="http://schemas.openxmlformats.org/drawingml/2006/main">
              <a:ext uri="{FF2B5EF4-FFF2-40B4-BE49-F238E27FC236}">
                <a16:creationId xmlns:a16="http://schemas.microsoft.com/office/drawing/2014/main" id="{C8A746CF-30F9-49E8-BF6C-F351ED48913A}"/>
              </a:ext>
            </a:extLst>
          </p:cNvPr>
          <p:cNvSpPr>
            <a:spLocks xmlns:a="http://schemas.openxmlformats.org/drawingml/2006/main" noGrp="1"/>
          </p:cNvSpPr>
          <p:nvPr/>
        </p:nvSpPr>
        <p:spPr>
          <a:xfrm xmlns:a="http://schemas.openxmlformats.org/drawingml/2006/main">
            <a:off x="4095750" y="44767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350" b="1">
                <a:solidFill>
                  <a:srgbClr val="FFFFFF"/>
                </a:solidFill>
                <a:latin typeface="Arial"/>
                <a:ea typeface="Arial"/>
                <a:cs typeface="Arial"/>
              </a:defRPr>
            </a:defPPr>
          </a:lstStyle>
          <a:p xmlns:a="http://schemas.openxmlformats.org/drawingml/2006/main">
            <a:pPr algn="ctr" rtl="1">
              <a:lnSpc>
                <a:spcPct val="100000"/>
              </a:lnSpc>
              <a:buNone/>
              <a:defRPr sz="1350" b="1" lang="he-IL" altLang="en-US">
                <a:solidFill>
                  <a:srgbClr val="FFFFFF"/>
                </a:solidFill>
                <a:latin typeface="Arial"/>
                <a:ea typeface="Arial"/>
                <a:cs typeface="Arial"/>
              </a:defRPr>
            </a:pPr>
            <a:r>
              <a:rPr sz="1350" b="1" lang="he-IL" altLang="en-US">
                <a:solidFill>
                  <a:srgbClr val="FFFFFF"/>
                </a:solidFill>
                <a:latin typeface="Arial"/>
                <a:ea typeface="Arial"/>
                <a:cs typeface="Arial"/>
              </a:rPr>
              <a:t>שאלה לפתיחה</a:t>
            </a:r>
          </a:p>
        </p:txBody>
      </p:sp>
      <p:sp>
        <p:nvSpPr>
          <p:cNvPr id="4" name="">
            <a:extLst xmlns:a="http://schemas.openxmlformats.org/drawingml/2006/main">
              <a:ext uri="{FF2B5EF4-FFF2-40B4-BE49-F238E27FC236}">
                <a16:creationId xmlns:a16="http://schemas.microsoft.com/office/drawing/2014/main" id="{78D8C272-683F-44DE-8A88-831E290BF06C}"/>
              </a:ext>
            </a:extLst>
          </p:cNvPr>
          <p:cNvSpPr>
            <a:spLocks xmlns:a="http://schemas.openxmlformats.org/drawingml/2006/main" noGrp="1"/>
          </p:cNvSpPr>
          <p:nvPr/>
        </p:nvSpPr>
        <p:spPr>
          <a:xfrm xmlns:a="http://schemas.openxmlformats.org/drawingml/2006/main">
            <a:off x="2571750" y="5000625"/>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400" b="0">
                <a:solidFill>
                  <a:srgbClr val="FFFFFF"/>
                </a:solidFill>
                <a:latin typeface="Arial"/>
                <a:ea typeface="Arial"/>
                <a:cs typeface="Arial"/>
              </a:defRPr>
            </a:defPPr>
          </a:lstStyle>
          <a:p xmlns:a="http://schemas.openxmlformats.org/drawingml/2006/main">
            <a:pPr algn="ctr" rtl="1">
              <a:lnSpc>
                <a:spcPct val="100000"/>
              </a:lnSpc>
              <a:buNone/>
              <a:defRPr sz="2400" b="0" lang="he-IL" altLang="en-US">
                <a:solidFill>
                  <a:srgbClr val="FFFFFF"/>
                </a:solidFill>
                <a:latin typeface="Arial"/>
                <a:ea typeface="Arial"/>
                <a:cs typeface="Arial"/>
              </a:defRPr>
            </a:pPr>
            <a:r>
              <a:rPr sz="2400" b="0" lang="he-IL" altLang="en-US">
                <a:solidFill>
                  <a:srgbClr val="FFFFFF"/>
                </a:solidFill>
                <a:latin typeface="Arial"/>
                <a:ea typeface="Arial"/>
                <a:cs typeface="Arial"/>
              </a:rPr>
              <a:t>למה הגוף מבקש שנקשיב היום?</a:t>
            </a:r>
          </a:p>
        </p:txBody>
      </p:sp>
    </p:spTree>
    <p:extLst>
      <p:ext uri="{BB962C8B-B14F-4D97-AF65-F5344CB8AC3E}">
        <p14:creationId xmlns:p14="http://schemas.microsoft.com/office/powerpoint/2010/main" val="3240526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2026-10-01T03:58:18.6040000Z</dcterms:created>
  <dcterms:modified xsi:type="dcterms:W3CDTF">2026-10-01T03:58:18.6040000Z</dcterms:modified>
</coreProperties>
</file>